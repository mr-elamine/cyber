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e5b37b32e474038" /><Relationship Type="http://schemas.openxmlformats.org/officeDocument/2006/relationships/extended-properties" Target="/docProps/app.xml" Id="R52c2ea7aa8504907" /><Relationship Type="http://schemas.openxmlformats.org/officeDocument/2006/relationships/officeDocument" Target="/ppt/presentation.xml" Id="R160bfa38b7054ce3" /></Relationships>
</file>

<file path=ppt/presentation.xml><?xml version="1.0" encoding="utf-8"?>
<p:presentation xmlns:p="http://schemas.openxmlformats.org/presentationml/2006/main">
  <p:sldMasterIdLst>
    <p:sldMasterId xmlns:r="http://schemas.openxmlformats.org/officeDocument/2006/relationships" id="2147483648" r:id="R4b1ef318fca24162"/>
  </p:sldMasterIdLst>
  <p:notesMasterIdLst>
    <p:notesMasterId xmlns:r="http://schemas.openxmlformats.org/officeDocument/2006/relationships" r:id="Rad2df8e31d6a4945"/>
  </p:notesMasterIdLst>
  <p:sldIdLst>
    <p:sldId xmlns:r="http://schemas.openxmlformats.org/officeDocument/2006/relationships" id="256" r:id="R55e8dadcc60644af"/>
    <p:sldId xmlns:r="http://schemas.openxmlformats.org/officeDocument/2006/relationships" id="257" r:id="R772c8eedfa614605"/>
    <p:sldId xmlns:r="http://schemas.openxmlformats.org/officeDocument/2006/relationships" id="258" r:id="R49e08c67a3ca4945"/>
    <p:sldId xmlns:r="http://schemas.openxmlformats.org/officeDocument/2006/relationships" id="259" r:id="R886da066fb59428d"/>
    <p:sldId xmlns:r="http://schemas.openxmlformats.org/officeDocument/2006/relationships" id="260" r:id="R3cea52cd347745da"/>
    <p:sldId xmlns:r="http://schemas.openxmlformats.org/officeDocument/2006/relationships" id="261" r:id="R236d09a46bbe4605"/>
    <p:sldId xmlns:r="http://schemas.openxmlformats.org/officeDocument/2006/relationships" id="262" r:id="R386ff777d6d4454e"/>
    <p:sldId xmlns:r="http://schemas.openxmlformats.org/officeDocument/2006/relationships" id="263" r:id="R1f9934ce551047f3"/>
    <p:sldId xmlns:r="http://schemas.openxmlformats.org/officeDocument/2006/relationships" id="264" r:id="R9ca1cad2fea1408c"/>
    <p:sldId xmlns:r="http://schemas.openxmlformats.org/officeDocument/2006/relationships" id="265" r:id="Rdf979893e4464977"/>
    <p:sldId xmlns:r="http://schemas.openxmlformats.org/officeDocument/2006/relationships" id="266" r:id="Rf2380f0ef1e54580"/>
    <p:sldId xmlns:r="http://schemas.openxmlformats.org/officeDocument/2006/relationships" id="267" r:id="R3df76705b9044e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1a1298d9be4b6d" /><Relationship Type="http://schemas.openxmlformats.org/officeDocument/2006/relationships/slideMaster" Target="/ppt/slideMasters/slideMaster1.xml" Id="R4b1ef318fca24162" /><Relationship Type="http://schemas.openxmlformats.org/officeDocument/2006/relationships/notesMaster" Target="/ppt/notesMasters/notesMaster1.xml" Id="Rad2df8e31d6a4945" /><Relationship Type="http://schemas.openxmlformats.org/officeDocument/2006/relationships/presProps" Target="/ppt/presProps.xml" Id="R5108c1f6561b4b52" /><Relationship Type="http://schemas.openxmlformats.org/officeDocument/2006/relationships/tableStyles" Target="/ppt/tableStyles.xml" Id="R3e5a5405d5914fa2" /><Relationship Type="http://schemas.openxmlformats.org/officeDocument/2006/relationships/slide" Target="/ppt/slides/slide1.xml" Id="R55e8dadcc60644af" /><Relationship Type="http://schemas.openxmlformats.org/officeDocument/2006/relationships/slide" Target="/ppt/slides/slide2.xml" Id="R772c8eedfa614605" /><Relationship Type="http://schemas.openxmlformats.org/officeDocument/2006/relationships/slide" Target="/ppt/slides/slide3.xml" Id="R49e08c67a3ca4945" /><Relationship Type="http://schemas.openxmlformats.org/officeDocument/2006/relationships/slide" Target="/ppt/slides/slide4.xml" Id="R886da066fb59428d" /><Relationship Type="http://schemas.openxmlformats.org/officeDocument/2006/relationships/slide" Target="/ppt/slides/slide5.xml" Id="R3cea52cd347745da" /><Relationship Type="http://schemas.openxmlformats.org/officeDocument/2006/relationships/slide" Target="/ppt/slides/slide6.xml" Id="R236d09a46bbe4605" /><Relationship Type="http://schemas.openxmlformats.org/officeDocument/2006/relationships/slide" Target="/ppt/slides/slide7.xml" Id="R386ff777d6d4454e" /><Relationship Type="http://schemas.openxmlformats.org/officeDocument/2006/relationships/slide" Target="/ppt/slides/slide8.xml" Id="R1f9934ce551047f3" /><Relationship Type="http://schemas.openxmlformats.org/officeDocument/2006/relationships/slide" Target="/ppt/slides/slide9.xml" Id="R9ca1cad2fea1408c" /><Relationship Type="http://schemas.openxmlformats.org/officeDocument/2006/relationships/slide" Target="/ppt/slides/slide10.xml" Id="Rdf979893e4464977" /><Relationship Type="http://schemas.openxmlformats.org/officeDocument/2006/relationships/slide" Target="/ppt/slides/slide11.xml" Id="Rf2380f0ef1e54580" /><Relationship Type="http://schemas.openxmlformats.org/officeDocument/2006/relationships/slide" Target="/ppt/slides/slide12.xml" Id="R3df76705b9044e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80b6d4a4c843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d5478063524f39" /><Relationship Type="http://schemas.openxmlformats.org/officeDocument/2006/relationships/notesMaster" Target="/ppt/notesMasters/notesMaster1.xml" Id="R63e5a420247d46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84119c57424a5d" /><Relationship Type="http://schemas.openxmlformats.org/officeDocument/2006/relationships/notesMaster" Target="/ppt/notesMasters/notesMaster1.xml" Id="R0f5eb87095454a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e42aba3e7e4671" /><Relationship Type="http://schemas.openxmlformats.org/officeDocument/2006/relationships/notesMaster" Target="/ppt/notesMasters/notesMaster1.xml" Id="R1a845a0c166042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6ee87afdc64d72" /><Relationship Type="http://schemas.openxmlformats.org/officeDocument/2006/relationships/notesMaster" Target="/ppt/notesMasters/notesMaster1.xml" Id="R03c63977db7e4b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b3b8ad0d9b49fb" /><Relationship Type="http://schemas.openxmlformats.org/officeDocument/2006/relationships/notesMaster" Target="/ppt/notesMasters/notesMaster1.xml" Id="Rca3ecd19dfcd4c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082ce06c404489" /><Relationship Type="http://schemas.openxmlformats.org/officeDocument/2006/relationships/notesMaster" Target="/ppt/notesMasters/notesMaster1.xml" Id="R7b4d4a609fe143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eb4813bc274f5e" /><Relationship Type="http://schemas.openxmlformats.org/officeDocument/2006/relationships/notesMaster" Target="/ppt/notesMasters/notesMaster1.xml" Id="R41a3288a40ee44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74e25044fb4138" /><Relationship Type="http://schemas.openxmlformats.org/officeDocument/2006/relationships/notesMaster" Target="/ppt/notesMasters/notesMaster1.xml" Id="R4e360380994d4a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da1416c2d945f6" /><Relationship Type="http://schemas.openxmlformats.org/officeDocument/2006/relationships/notesMaster" Target="/ppt/notesMasters/notesMaster1.xml" Id="R80ced8ad0ec44a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2d459228a54909" /><Relationship Type="http://schemas.openxmlformats.org/officeDocument/2006/relationships/notesMaster" Target="/ppt/notesMasters/notesMaster1.xml" Id="R950565d175424c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e8d12acad74040" /><Relationship Type="http://schemas.openxmlformats.org/officeDocument/2006/relationships/notesMaster" Target="/ppt/notesMasters/notesMaster1.xml" Id="R6d65e98f570f4b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f990b1977d4c75" /><Relationship Type="http://schemas.openxmlformats.org/officeDocument/2006/relationships/notesMaster" Target="/ppt/notesMasters/notesMaster1.xml" Id="R6ee9800aee1140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Dans ce projet, j’ai étudié deux exécutables Windows, Res.exe et Env.exe. Mon objectif était de comprendre leur fonctionnement et de vérifier ce qu’ils font réellement. Je présente d’abord le laboratoire, puis l’analyse des fichiers, leur exécution et les preuves conservées en mémoire et sur disque. Les résultats présentés datent du 10 septembre 2026. Le visuel de couverture est une illustration abstraite générée et ne représente pas une preuve du laboratoire.</a:t>
            </a:r>
          </a:p>
          <a:p xmlns:a="http://schemas.openxmlformats.org/drawingml/2006/main">
            <a:r>
              <a:t/>
            </a:r>
          </a:p>
          <a:p xmlns:a="http://schemas.openxmlformats.org/drawingml/2006/main">
            <a:r>
              <a:t>Sources du projet :</a:t>
            </a:r>
          </a:p>
          <a:p xmlns:a="http://schemas.openxmlformats.org/drawingml/2006/main">
            <a:r>
              <a:t>https://github.com/mr-ElAmine/cyber/blob/eebb869/us1/rendu.md</a:t>
            </a:r>
          </a:p>
          <a:p xmlns:a="http://schemas.openxmlformats.org/drawingml/2006/main">
            <a:r>
              <a:t>https://github.com/mr-ElAmine/cyber/blob/eebb869/us2/rendu.md</a:t>
            </a:r>
          </a:p>
          <a:p xmlns:a="http://schemas.openxmlformats.org/drawingml/2006/main">
            <a:r>
              <a:t>https://github.com/mr-ElAmine/cyber/blob/eebb869/us8/rendu.md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installé Windows 10 x64 dans QEMU, lui-même lancé avec Docker sur le Mac. L’isolation repose sur deux réglages : aucune carte réseau dans Windows et aucun réseau pour le conteneur. J’ai vérifié les interfaces, les routes et l’échec des sorties vers Internet. La console reste locale. Un snapshot propre permet de repartir avant l’essai, et sa restauration a été testée sur une copie. Cela valide le laboratoire hors réseau, sans démontrer une résistance à toutes les évasions de VM. L’activation de la licence d’évaluation n’a pas été validée.</a:t>
            </a:r>
          </a:p>
          <a:p xmlns:a="http://schemas.openxmlformats.org/drawingml/2006/main">
            <a:r>
              <a:t/>
            </a:r>
          </a:p>
          <a:p xmlns:a="http://schemas.openxmlformats.org/drawingml/2006/main">
            <a:r>
              <a:t>Sources du projet :</a:t>
            </a:r>
          </a:p>
          <a:p xmlns:a="http://schemas.openxmlformats.org/drawingml/2006/main">
            <a:r>
              <a:t>https://github.com/mr-ElAmine/cyber/blob/eebb869/us1/rendu.md</a:t>
            </a:r>
          </a:p>
          <a:p xmlns:a="http://schemas.openxmlformats.org/drawingml/2006/main">
            <a:r>
              <a:t>https://github.com/mr-ElAmine/cyber/blob/eebb869/us1/preuves.txt</a:t>
            </a:r>
          </a:p>
          <a:p xmlns:a="http://schemas.openxmlformats.org/drawingml/2006/main">
            <a:r>
              <a:t>https://github.com/mr-ElAmine/cyber/blob/eebb869/infrastructure/windows/compose.yaml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Avant toute exécution, j’ai calculé les empreintes du ZIP et des deux exécutables. Elles servent à reconnaître exactement les mêmes fichiers dans la suite du projet. VirusTotal les signalait déjà. Sur MalwareBazaar, les recherches directes des EXE ne donnaient pas de fiche, mais leurs empreintes correspondaient au contenu de l’archive. Les résultats orientent vers un cheval de Troie ou un keylogger, sans identifier une famille unique avec certitude. Les ratios sont ceux des relevés conservés, avec des dates de rapports différentes.</a:t>
            </a:r>
          </a:p>
          <a:p xmlns:a="http://schemas.openxmlformats.org/drawingml/2006/main">
            <a:r>
              <a:t/>
            </a:r>
          </a:p>
          <a:p xmlns:a="http://schemas.openxmlformats.org/drawingml/2006/main">
            <a:r>
              <a:t>Sources du projet :</a:t>
            </a:r>
          </a:p>
          <a:p xmlns:a="http://schemas.openxmlformats.org/drawingml/2006/main">
            <a:r>
              <a:t>https://github.com/mr-ElAmine/cyber/blob/eebb869/us2/rendu.md</a:t>
            </a:r>
          </a:p>
          <a:p xmlns:a="http://schemas.openxmlformats.org/drawingml/2006/main">
            <a:r>
              <a:t>https://github.com/mr-ElAmine/cyber/blob/eebb869/us2/hashes.json</a:t>
            </a:r>
          </a:p>
          <a:p xmlns:a="http://schemas.openxmlformats.org/drawingml/2006/main">
            <a:r>
              <a:t>https://github.com/mr-ElAmine/cyber/blob/eebb869/us2/virustotal.json</a:t>
            </a:r>
          </a:p>
          <a:p xmlns:a="http://schemas.openxmlformats.org/drawingml/2006/main">
            <a:r>
              <a:t>https://github.com/mr-ElAmine/cyber/blob/eebb869/us2/malwarebazaar.json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lu la structure PE et les imports avec pefile, puis les instructions avec objdump. Les deux programmes sont des exécutables x86 de 32 bits. Res.exe appelle les fonctions de lecture du clavier. L’appel à GetAsyncKeyState apparaît à 0x40167e, via l’import 0x409368. Env.exe contient la logique de lecture du journal et de préparation d’un envoi par courriel. Cela décrit les capacités du code. Le serveur Laposte est un service légitime : son nom, seul, ne suffit pas à établir une infection.</a:t>
            </a:r>
          </a:p>
          <a:p xmlns:a="http://schemas.openxmlformats.org/drawingml/2006/main">
            <a:r>
              <a:t/>
            </a:r>
          </a:p>
          <a:p xmlns:a="http://schemas.openxmlformats.org/drawingml/2006/main">
            <a:r>
              <a:t>Sources du projet :</a:t>
            </a:r>
          </a:p>
          <a:p xmlns:a="http://schemas.openxmlformats.org/drawingml/2006/main">
            <a:r>
              <a:t>https://github.com/mr-ElAmine/cyber/blob/eebb869/us3/rendu.md</a:t>
            </a:r>
          </a:p>
          <a:p xmlns:a="http://schemas.openxmlformats.org/drawingml/2006/main">
            <a:r>
              <a:t>https://github.com/mr-ElAmine/cyber/blob/eebb869/us3/resultats/Res.exe.asm.txt</a:t>
            </a:r>
          </a:p>
          <a:p xmlns:a="http://schemas.openxmlformats.org/drawingml/2006/main">
            <a:r>
              <a:t>https://github.com/mr-ElAmine/cyber/blob/eebb869/us3/resultats/Env.exe.asm.txt</a:t>
            </a:r>
          </a:p>
          <a:p xmlns:a="http://schemas.openxmlformats.org/drawingml/2006/main">
            <a:r>
              <a:t>https://github.com/mr-ElAmine/cyber/blob/eebb869/us3/iocs.csv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confronté le code à deux essais observés avec Process Monitor. Dans le premier, Res.exe lance des commandes et des copies de fichiers, écrit deux valeurs de démarrage et effectue neuf écritures d’un octet dans le journal. La phrase de test complète n’a pas été retrouvée. Lors du second essai, Env.exe s’arrête à cause d’un plugin Qt manquant. Les modifications système et les créations de fichiers et processus sont documentées. Le critère réseau reste partiel car le laboratoire est hors réseau et le composant d’envoi ne démarre pas correctement.</a:t>
            </a:r>
          </a:p>
          <a:p xmlns:a="http://schemas.openxmlformats.org/drawingml/2006/main">
            <a:r>
              <a:t/>
            </a:r>
          </a:p>
          <a:p xmlns:a="http://schemas.openxmlformats.org/drawingml/2006/main">
            <a:r>
              <a:t>Sources du projet :</a:t>
            </a:r>
          </a:p>
          <a:p xmlns:a="http://schemas.openxmlformats.org/drawingml/2006/main">
            <a:r>
              <a:t>https://github.com/mr-ElAmine/cyber/blob/eebb869/us4/rendu.md</a:t>
            </a:r>
          </a:p>
          <a:p xmlns:a="http://schemas.openxmlformats.org/drawingml/2006/main">
            <a:r>
              <a:t>https://github.com/mr-ElAmine/cyber/blob/eebb869/us4/resultats/resume.json</a:t>
            </a:r>
          </a:p>
          <a:p xmlns:a="http://schemas.openxmlformats.org/drawingml/2006/main">
            <a:r>
              <a:t>https://github.com/mr-ElAmine/cyber/blob/eebb869/us4/resultats/second-resume.json</a:t>
            </a:r>
          </a:p>
          <a:p xmlns:a="http://schemas.openxmlformats.org/drawingml/2006/main">
            <a:r>
              <a:t>https://github.com/mr-ElAmine/cyber/blob/eebb869/us4/resultats/observation-env.json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risque prioritaire concerne la confidentialité des informations tapées pendant l’exécution. Les écritures observées et le code rendent ce risque crédible, sans prouver une collecte complète ni un vol de mot de passe. L’installation locale est mieux documentée que l’envoi des données. Mes mesures prioritaires sont l’isolation, la conservation des preuves et le retour à un état sain. Si des secrets ont pu être exposés, leur remplacement et la révocation des sessions doivent se faire depuis un appareil sain. Ces mesures sont proposées, pas toutes déployées ou testées.</a:t>
            </a:r>
          </a:p>
          <a:p xmlns:a="http://schemas.openxmlformats.org/drawingml/2006/main">
            <a:r>
              <a:t/>
            </a:r>
          </a:p>
          <a:p xmlns:a="http://schemas.openxmlformats.org/drawingml/2006/main">
            <a:r>
              <a:t>Sources du projet :</a:t>
            </a:r>
          </a:p>
          <a:p xmlns:a="http://schemas.openxmlformats.org/drawingml/2006/main">
            <a:r>
              <a:t>https://github.com/mr-ElAmine/cyber/blob/eebb869/us5/rendu.md</a:t>
            </a:r>
          </a:p>
          <a:p xmlns:a="http://schemas.openxmlformats.org/drawingml/2006/main">
            <a:r>
              <a:t>https://github.com/mr-ElAmine/cyber/blob/eebb869/us5/risques.csv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analysé les deux captures avec Volatility 3, version 2.28.0. Les empreintes sont conformes et les régions mémoire déclarées sont complètes. La première capture contient 79 processus actifs. Après lancement, la liste contient 102 entrées, dont une terminée, soit 101 processus actifs. Cette différence inclut l’activité de Windows et des outils. Le résultat central est Res.exe, PID 6064, encore actif, avec deux threads et PowerShell comme parent. Aucun Env.exe n’apparaît dans les résultats examinés. Aucune connexion n’est attribuée à Res.exe dans les structures réseau lues.</a:t>
            </a:r>
          </a:p>
          <a:p xmlns:a="http://schemas.openxmlformats.org/drawingml/2006/main">
            <a:r>
              <a:t/>
            </a:r>
          </a:p>
          <a:p xmlns:a="http://schemas.openxmlformats.org/drawingml/2006/main">
            <a:r>
              <a:t>Sources du projet :</a:t>
            </a:r>
          </a:p>
          <a:p xmlns:a="http://schemas.openxmlformats.org/drawingml/2006/main">
            <a:r>
              <a:t>https://github.com/mr-ElAmine/cyber/blob/eebb869/us6/rendu.md</a:t>
            </a:r>
          </a:p>
          <a:p xmlns:a="http://schemas.openxmlformats.org/drawingml/2006/main">
            <a:r>
              <a:t>https://github.com/mr-ElAmine/cyber/blob/eebb869/us6/resultats/integrite.json</a:t>
            </a:r>
          </a:p>
          <a:p xmlns:a="http://schemas.openxmlformats.org/drawingml/2006/main">
            <a:r>
              <a:t>https://github.com/mr-ElAmine/cyber/blob/eebb869/us6/resultats/avant-pslist.json</a:t>
            </a:r>
          </a:p>
          <a:p xmlns:a="http://schemas.openxmlformats.org/drawingml/2006/main">
            <a:r>
              <a:t>https://github.com/mr-ElAmine/cyber/blob/eebb869/us6/resultats/apres-pslist.json</a:t>
            </a:r>
          </a:p>
          <a:p xmlns:a="http://schemas.openxmlformats.org/drawingml/2006/main">
            <a:r>
              <a:t>https://github.com/mr-ElAmine/cyber/blob/eebb869/us6/resultats/apres-netstat.json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réalisé une image RAW du snapshot du premier essai avec qemu-img, VM arrêtée. Elle représente 64 Gio de contenu logique. J’ai ensuite relu le snapshot et la copie avec deux accès distincts, comparé tous les octets et calculé leurs empreintes. Aucune différence n’apparaît. L’inventaire ciblé retrouve 21 fichiers sur la partition Windows, dont les deux exécutables et leurs copies. Leur présence sur disque ne prouve pas à elle seule qu’ils ont été exécutés. L’image reste en lecture seule pendant l’analyse.</a:t>
            </a:r>
          </a:p>
          <a:p xmlns:a="http://schemas.openxmlformats.org/drawingml/2006/main">
            <a:r>
              <a:t/>
            </a:r>
          </a:p>
          <a:p xmlns:a="http://schemas.openxmlformats.org/drawingml/2006/main">
            <a:r>
              <a:t>Sources du projet :</a:t>
            </a:r>
          </a:p>
          <a:p xmlns:a="http://schemas.openxmlformats.org/drawingml/2006/main">
            <a:r>
              <a:t>https://github.com/mr-ElAmine/cyber/blob/eebb869/us7/rendu.md</a:t>
            </a:r>
          </a:p>
          <a:p xmlns:a="http://schemas.openxmlformats.org/drawingml/2006/main">
            <a:r>
              <a:t>https://github.com/mr-ElAmine/cyber/blob/eebb869/us7/resultats/integrite.json</a:t>
            </a:r>
          </a:p>
          <a:p xmlns:a="http://schemas.openxmlformats.org/drawingml/2006/main">
            <a:r>
              <a:t>https://github.com/mr-ElAmine/cyber/blob/eebb869/us7/resultats/analyse.json</a:t>
            </a:r>
          </a:p>
          <a:p xmlns:a="http://schemas.openxmlformats.org/drawingml/2006/main">
            <a:r>
              <a:t>https://github.com/mr-ElAmine/cyber/blob/eebb869/us7/resultats/fichiers.csv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comparé la clé Run du registre du compte Analyste avec celle du snapshot propre. Les valeurs Res et Env sont absentes avant l’essai et présentes après, avec des cibles qui existent sur le disque. Les événements RegSetValue attribuent les écritures à Res.exe. La correspondance RAM et disque repose sur le chemin, le PID, le parent et l’heure de lancement. Je n’ai pas extrait le code en mémoire pour comparer son empreinte au fichier. La persistance est configurée, mais je n’ai pas testé une nouvelle ouverture de session.</a:t>
            </a:r>
          </a:p>
          <a:p xmlns:a="http://schemas.openxmlformats.org/drawingml/2006/main">
            <a:r>
              <a:t/>
            </a:r>
          </a:p>
          <a:p xmlns:a="http://schemas.openxmlformats.org/drawingml/2006/main">
            <a:r>
              <a:t>Sources du projet :</a:t>
            </a:r>
          </a:p>
          <a:p xmlns:a="http://schemas.openxmlformats.org/drawingml/2006/main">
            <a:r>
              <a:t>https://github.com/mr-ElAmine/cyber/blob/eebb869/us8/rendu.md</a:t>
            </a:r>
          </a:p>
          <a:p xmlns:a="http://schemas.openxmlformats.org/drawingml/2006/main">
            <a:r>
              <a:t>https://github.com/mr-ElAmine/cyber/blob/eebb869/us8/resultats/correlations.json</a:t>
            </a:r>
          </a:p>
          <a:p xmlns:a="http://schemas.openxmlformats.org/drawingml/2006/main">
            <a:r>
              <a:t>https://github.com/mr-ElAmine/cyber/blob/eebb869/us8/resultats/persistance.json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chronologie regroupe les événements du premier essai. Les heures proviennent de Windows et sont arrondies ici pour faciliter la lecture. Le lancement précède les copies, puis les écritures dans le registre et le journal. Res.exe reste actif dans la capture RAM. Les neuf écritures d’un octet de la trace ne représentent pas les 82 octets du fichier final, puisque le snapshot disque est ultérieur. Je ne mélange pas ces heures Windows avec celles de l’hôte. Le scénario commence par un lancement volontaire dans le laboratoire, pas par un vecteur d’infection réel démontré.</a:t>
            </a:r>
          </a:p>
          <a:p xmlns:a="http://schemas.openxmlformats.org/drawingml/2006/main">
            <a:r>
              <a:t/>
            </a:r>
          </a:p>
          <a:p xmlns:a="http://schemas.openxmlformats.org/drawingml/2006/main">
            <a:r>
              <a:t>Sources du projet :</a:t>
            </a:r>
          </a:p>
          <a:p xmlns:a="http://schemas.openxmlformats.org/drawingml/2006/main">
            <a:r>
              <a:t>https://github.com/mr-ElAmine/cyber/blob/eebb869/us8/resultats/evenements.csv</a:t>
            </a:r>
          </a:p>
          <a:p xmlns:a="http://schemas.openxmlformats.org/drawingml/2006/main">
            <a:r>
              <a:t>https://github.com/mr-ElAmine/cyber/blob/eebb869/us8/resultats/scenario.json</a:t>
            </a:r>
          </a:p>
          <a:p xmlns:a="http://schemas.openxmlformats.org/drawingml/2006/main">
            <a:r>
              <a:t>https://github.com/mr-ElAmine/cyber/blob/eebb869/us6/resultats/apres-info.json</a:t>
            </a:r>
          </a:p>
          <a:p xmlns:a="http://schemas.openxmlformats.org/drawingml/2006/main">
            <a:r>
              <a:t>https://github.com/mr-ElAmine/cyber/blob/eebb869/us7/resultats/source.json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 organisé les commandes par story. Docker porte les outils et les réglages d’isolation. Les scripts Bash lancent les étapes, et le Python est séparé par rôle pour rendre le traitement lisible. Pour les dernières stories, je peux suivre la vérification de l’image, la lecture des fichiers, le registre puis les corrélations. Les commandes de cette diapositive relisent les preuves déjà conservées. Elles n’ont pas besoin d’une nouvelle exécution du malware, mais elles remplacent les relevés automatiques. Il faut donc garder les résultats de référence avant une démonstration.</a:t>
            </a:r>
          </a:p>
          <a:p xmlns:a="http://schemas.openxmlformats.org/drawingml/2006/main">
            <a:r>
              <a:t/>
            </a:r>
          </a:p>
          <a:p xmlns:a="http://schemas.openxmlformats.org/drawingml/2006/main">
            <a:r>
              <a:t>Sources du projet :</a:t>
            </a:r>
          </a:p>
          <a:p xmlns:a="http://schemas.openxmlformats.org/drawingml/2006/main">
            <a:r>
              <a:t>https://github.com/mr-ElAmine/cyber/blob/eebb869/us4/analyse.sh</a:t>
            </a:r>
          </a:p>
          <a:p xmlns:a="http://schemas.openxmlformats.org/drawingml/2006/main">
            <a:r>
              <a:t>https://github.com/mr-ElAmine/cyber/blob/eebb869/us6/analyse.sh</a:t>
            </a:r>
          </a:p>
          <a:p xmlns:a="http://schemas.openxmlformats.org/drawingml/2006/main">
            <a:r>
              <a:t>https://github.com/mr-ElAmine/cyber/blob/eebb869/us7/analyse.sh</a:t>
            </a:r>
          </a:p>
          <a:p xmlns:a="http://schemas.openxmlformats.org/drawingml/2006/main">
            <a:r>
              <a:t>https://github.com/mr-ElAmine/cyber/blob/eebb869/us8/analyse.sh</a:t>
            </a:r>
          </a:p>
          <a:p xmlns:a="http://schemas.openxmlformats.org/drawingml/2006/main">
            <a:r>
              <a:t>https://github.com/mr-ElAmine/cyber/blob/eebb869/us8/script/analyser.py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 terme des huit stories, j’ai un environnement isolé et un ensemble cohérent de preuves. Res.exe s’installe, écrit un journal et configure les deux valeurs Run. La trace, la mémoire et le disque se recoupent sur ce scénario. En revanche, je ne conclus pas à une collecte complète de tout ce qui a été tapé, à un lancement automatique réussi, ni à un envoi du journal. L’identité octet par octet du code en RAM avec le fichier n’a pas été vérifiée. Ces limites font partie du résultat de l’analyse.</a:t>
            </a:r>
          </a:p>
          <a:p xmlns:a="http://schemas.openxmlformats.org/drawingml/2006/main">
            <a:r>
              <a:t/>
            </a:r>
          </a:p>
          <a:p xmlns:a="http://schemas.openxmlformats.org/drawingml/2006/main">
            <a:r>
              <a:t>Sources du projet :</a:t>
            </a:r>
          </a:p>
          <a:p xmlns:a="http://schemas.openxmlformats.org/drawingml/2006/main">
            <a:r>
              <a:t>https://github.com/mr-ElAmine/cyber/blob/eebb869/us3/rendu.md</a:t>
            </a:r>
          </a:p>
          <a:p xmlns:a="http://schemas.openxmlformats.org/drawingml/2006/main">
            <a:r>
              <a:t>https://github.com/mr-ElAmine/cyber/blob/eebb869/us4/rendu.md</a:t>
            </a:r>
          </a:p>
          <a:p xmlns:a="http://schemas.openxmlformats.org/drawingml/2006/main">
            <a:r>
              <a:t>https://github.com/mr-ElAmine/cyber/blob/eebb869/us5/rendu.md</a:t>
            </a:r>
          </a:p>
          <a:p xmlns:a="http://schemas.openxmlformats.org/drawingml/2006/main">
            <a:r>
              <a:t>https://github.com/mr-ElAmine/cyber/blob/eebb869/us6/rendu.md</a:t>
            </a:r>
          </a:p>
          <a:p xmlns:a="http://schemas.openxmlformats.org/drawingml/2006/main">
            <a:r>
              <a:t>https://github.com/mr-ElAmine/cyber/blob/eebb869/us8/rendu.md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de6479d5ce45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3e0518452942b3" /><Relationship Type="http://schemas.openxmlformats.org/officeDocument/2006/relationships/slideLayout" Target="/ppt/slideLayouts/slideLayout1.xml" Id="Ref91f857db014e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91f857db014e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5682b15fae84915" /><Relationship Type="http://schemas.openxmlformats.org/officeDocument/2006/relationships/image" Target="/ppt/media/image.png" Id="Re98089eb52f84ab2" /><Relationship Type="http://schemas.openxmlformats.org/officeDocument/2006/relationships/notesSlide" Target="/ppt/notesSlides/notesSlide1.xml" Id="Rc4b52ae989c842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4dc267496842e3" /><Relationship Type="http://schemas.openxmlformats.org/officeDocument/2006/relationships/notesSlide" Target="/ppt/notesSlides/notesSlide2.xml" Id="R1d1675e6bb6f4f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86c83c01c04b35" /><Relationship Type="http://schemas.openxmlformats.org/officeDocument/2006/relationships/notesSlide" Target="/ppt/notesSlides/notesSlide3.xml" Id="Ra27142fd6e7f46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3e4f590b4c47e8" /><Relationship Type="http://schemas.openxmlformats.org/officeDocument/2006/relationships/notesSlide" Target="/ppt/notesSlides/notesSlide4.xml" Id="Rcf5c7688299e4a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ed30f3c85b4912" /><Relationship Type="http://schemas.openxmlformats.org/officeDocument/2006/relationships/notesSlide" Target="/ppt/notesSlides/notesSlide5.xml" Id="R9944a1d768b747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39b74f4d234a33" /><Relationship Type="http://schemas.openxmlformats.org/officeDocument/2006/relationships/notesSlide" Target="/ppt/notesSlides/notesSlide6.xml" Id="R556df0d515e348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364455199f463f" /><Relationship Type="http://schemas.openxmlformats.org/officeDocument/2006/relationships/chart" Target="/ppt/slides/charts/chart1.xml" Id="R88e7bbd06b884f31" /><Relationship Type="http://schemas.openxmlformats.org/officeDocument/2006/relationships/notesSlide" Target="/ppt/notesSlides/notesSlide7.xml" Id="Ra01b672987b24e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750757698364654" /><Relationship Type="http://schemas.openxmlformats.org/officeDocument/2006/relationships/notesSlide" Target="/ppt/notesSlides/notesSlide8.xml" Id="R73ef9ddb3e0047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b8252975be4c75" /><Relationship Type="http://schemas.openxmlformats.org/officeDocument/2006/relationships/notesSlide" Target="/ppt/notesSlides/notesSlide9.xml" Id="R5be78277b16e4d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9ae52d5031c4a3c" /><Relationship Type="http://schemas.openxmlformats.org/officeDocument/2006/relationships/notesSlide" Target="/ppt/notesSlides/notesSlide10.xml" Id="R13453d37a38949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b2648de8ebe4bc1" /><Relationship Type="http://schemas.openxmlformats.org/officeDocument/2006/relationships/notesSlide" Target="/ppt/notesSlides/notesSlide11.xml" Id="R1aabb3255c2a44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315cb0a7fd3449a" /><Relationship Type="http://schemas.openxmlformats.org/officeDocument/2006/relationships/notesSlide" Target="/ppt/notesSlides/notesSlide12.xml" Id="R555e11cd708a4d4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Processus actifs</c:v>
          </c:tx>
          <c:spPr>
            <a:solidFill xmlns:a="http://schemas.openxmlformats.org/drawingml/2006/main">
              <a:srgbClr val="14798B"/>
            </a:solidFill>
          </c:spPr>
          <c:dPt>
            <c:idx val="0"/>
            <c:invertIfNegative val="0"/>
            <c:spPr>
              <a:solidFill xmlns:a="http://schemas.openxmlformats.org/drawingml/2006/main">
                <a:srgbClr val="B6CED8"/>
              </a:solidFill>
            </c:spPr>
          </c:dPt>
          <c:dPt>
            <c:idx val="1"/>
            <c:invertIfNegative val="0"/>
            <c:spPr>
              <a:solidFill xmlns:a="http://schemas.openxmlformats.org/drawingml/2006/main">
                <a:srgbClr val="14798B"/>
              </a:solidFill>
            </c:spPr>
          </c:dPt>
          <c:cat>
            <c:strRef>
              <c:f>'Chart Data'!$A$2:$A$3</c:f>
              <c:strCache>
                <c:ptCount val="2"/>
                <c:pt idx="0">
                  <c:v>Avant</c:v>
                </c:pt>
                <c:pt idx="1">
                  <c:v>Pendant</c:v>
                </c:pt>
              </c:strCache>
            </c:strRef>
          </c:cat>
          <c:val>
            <c:numRef>
              <c:f>'Chart Data'!$B$2:$B$3</c:f>
              <c:numCache>
                <c:formatCode>0</c:formatCode>
                <c:ptCount val="2"/>
                <c:pt idx="0">
                  <c:v>79</c:v>
                </c:pt>
                <c:pt idx="1">
                  <c:v>101</c:v>
                </c:pt>
              </c:numCache>
            </c:numRef>
          </c:val>
        </c:ser>
        <c:dLbls>
          <c:txPr>
            <a:bodyPr xmlns:a="http://schemas.openxmlformats.org/drawingml/2006/main" anchorCtr="1"/>
            <a:lstStyle xmlns:a="http://schemas.openxmlformats.org/drawingml/2006/main"/>
            <a:p xmlns:a="http://schemas.openxmlformats.org/drawingml/2006/main">
              <a:pPr>
                <a:defRPr sz="2250" b="1">
                  <a:solidFill>
                    <a:srgbClr val="152B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950">
                <a:solidFill>
                  <a:srgbClr val="152B3B"/>
                </a:solidFill>
                <a:latin typeface="Helvetica Neue"/>
                <a:ea typeface="Helvetica Neue"/>
                <a:cs typeface="Helvetica Neue"/>
              </a:defRPr>
            </a:pPr>
          </a:p>
        </c:txPr>
        <c:crossAx val="48672768"/>
      </c:catAx>
      <c:valAx>
        <c:axId val="48672768"/>
        <c:scaling>
          <c:orientation val="minMax"/>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950">
                <a:solidFill>
                  <a:srgbClr val="152B3B"/>
                </a:solidFill>
                <a:latin typeface="Helvetica Neue"/>
                <a:ea typeface="Helvetica Neue"/>
                <a:cs typeface="Helvetica Neue"/>
              </a:defRPr>
            </a:pPr>
          </a:p>
        </c:txPr>
        <c:crossAx val="48650112"/>
        <c:crossBetween val="between"/>
      </c:valAx>
      <c:spPr>
        <a:solidFill xmlns:a="http://schemas.openxmlformats.org/drawingml/2006/main">
          <a:srgbClr val="F7FAFC"/>
        </a:solidFill>
        <a:ln xmlns:a="http://schemas.openxmlformats.org/drawingml/2006/main" w="0">
          <a:noFill/>
        </a:ln>
      </c:spPr>
    </c:plotArea>
    <c:plotVisOnly val="1"/>
  </c:chart>
  <c:spPr>
    <a:solidFill xmlns:a="http://schemas.openxmlformats.org/drawingml/2006/main">
      <a:srgbClr val="F7FAF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420"/>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98089eb52f84ab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bhkqgb-72-92">
            <a:extLst xmlns:a="http://schemas.openxmlformats.org/drawingml/2006/main">
              <a:ext uri="{FF2B5EF4-FFF2-40B4-BE49-F238E27FC236}">
                <a16:creationId xmlns:a16="http://schemas.microsoft.com/office/drawing/2014/main" id="{1CBD91C2-7B89-4527-9A2B-A2BA6A5B8EF8}"/>
              </a:ext>
            </a:extLst>
          </p:cNvPr>
          <p:cNvSpPr>
            <a:spLocks xmlns:a="http://schemas.openxmlformats.org/drawingml/2006/main" noGrp="1"/>
          </p:cNvSpPr>
          <p:nvPr/>
        </p:nvSpPr>
        <p:spPr>
          <a:xfrm xmlns:a="http://schemas.openxmlformats.org/drawingml/2006/main">
            <a:off x="685800" y="8763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8DDBE7"/>
                </a:solidFill>
                <a:latin typeface="Helvetica Neue"/>
                <a:ea typeface="Helvetica Neue"/>
                <a:cs typeface="Helvetica Neue"/>
              </a:defRPr>
            </a:pPr>
            <a:r>
              <a:rPr sz="1800" b="1">
                <a:solidFill>
                  <a:srgbClr val="8DDBE7"/>
                </a:solidFill>
                <a:latin typeface="Helvetica Neue"/>
                <a:ea typeface="Helvetica Neue"/>
                <a:cs typeface="Helvetica Neue"/>
              </a:rPr>
              <a:t>REVERSE ENGINEERING</a:t>
            </a:r>
          </a:p>
        </p:txBody>
      </p:sp>
      <p:sp>
        <p:nvSpPr>
          <p:cNvPr id="3" name="text-bhkqgb-72-228">
            <a:extLst xmlns:a="http://schemas.openxmlformats.org/drawingml/2006/main">
              <a:ext uri="{FF2B5EF4-FFF2-40B4-BE49-F238E27FC236}">
                <a16:creationId xmlns:a16="http://schemas.microsoft.com/office/drawing/2014/main" id="{370FD290-7C9B-48B2-8085-7095C1CEADB6}"/>
              </a:ext>
            </a:extLst>
          </p:cNvPr>
          <p:cNvSpPr>
            <a:spLocks xmlns:a="http://schemas.openxmlformats.org/drawingml/2006/main" noGrp="1"/>
          </p:cNvSpPr>
          <p:nvPr/>
        </p:nvSpPr>
        <p:spPr>
          <a:xfrm xmlns:a="http://schemas.openxmlformats.org/drawingml/2006/main">
            <a:off x="685800" y="2171700"/>
            <a:ext cx="7524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Analyse d’un</a:t>
            </a:r>
          </a:p>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malware Windows</a:t>
            </a:r>
          </a:p>
        </p:txBody>
      </p:sp>
      <p:sp>
        <p:nvSpPr>
          <p:cNvPr id="4" name="text-bhkqgb-72-456">
            <a:extLst xmlns:a="http://schemas.openxmlformats.org/drawingml/2006/main">
              <a:ext uri="{FF2B5EF4-FFF2-40B4-BE49-F238E27FC236}">
                <a16:creationId xmlns:a16="http://schemas.microsoft.com/office/drawing/2014/main" id="{5F59598E-ABA2-49E9-BB06-4DB834AA9753}"/>
              </a:ext>
            </a:extLst>
          </p:cNvPr>
          <p:cNvSpPr>
            <a:spLocks xmlns:a="http://schemas.openxmlformats.org/drawingml/2006/main" noGrp="1"/>
          </p:cNvSpPr>
          <p:nvPr/>
        </p:nvSpPr>
        <p:spPr>
          <a:xfrm xmlns:a="http://schemas.openxmlformats.org/drawingml/2006/main">
            <a:off x="685800" y="4343400"/>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D0E6ED"/>
                </a:solidFill>
                <a:latin typeface="Helvetica Neue"/>
                <a:ea typeface="Helvetica Neue"/>
                <a:cs typeface="Helvetica Neue"/>
              </a:defRPr>
            </a:pPr>
            <a:r>
              <a:rPr sz="2250" b="0">
                <a:solidFill>
                  <a:srgbClr val="D0E6ED"/>
                </a:solidFill>
                <a:latin typeface="Helvetica Neue"/>
                <a:ea typeface="Helvetica Neue"/>
                <a:cs typeface="Helvetica Neue"/>
              </a:rPr>
              <a:t>Des preuves en RAM et sur disque.</a:t>
            </a:r>
          </a:p>
        </p:txBody>
      </p:sp>
      <p:sp>
        <p:nvSpPr>
          <p:cNvPr id="5" name="text-bhkqgb-72-605">
            <a:extLst xmlns:a="http://schemas.openxmlformats.org/drawingml/2006/main">
              <a:ext uri="{FF2B5EF4-FFF2-40B4-BE49-F238E27FC236}">
                <a16:creationId xmlns:a16="http://schemas.microsoft.com/office/drawing/2014/main" id="{E3A0B7C7-984A-4FC5-87C6-11DF55D0D3E9}"/>
              </a:ext>
            </a:extLst>
          </p:cNvPr>
          <p:cNvSpPr>
            <a:spLocks xmlns:a="http://schemas.openxmlformats.org/drawingml/2006/main" noGrp="1"/>
          </p:cNvSpPr>
          <p:nvPr/>
        </p:nvSpPr>
        <p:spPr>
          <a:xfrm xmlns:a="http://schemas.openxmlformats.org/drawingml/2006/main">
            <a:off x="685800" y="5762625"/>
            <a:ext cx="7429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D0E6ED"/>
                </a:solidFill>
                <a:latin typeface="Helvetica Neue"/>
                <a:ea typeface="Helvetica Neue"/>
                <a:cs typeface="Helvetica Neue"/>
              </a:defRPr>
            </a:pPr>
            <a:r>
              <a:rPr sz="1800" b="0">
                <a:solidFill>
                  <a:srgbClr val="D0E6ED"/>
                </a:solidFill>
                <a:latin typeface="Helvetica Neue"/>
                <a:ea typeface="Helvetica Neue"/>
                <a:cs typeface="Helvetica Neue"/>
              </a:rPr>
              <a:t>US1 à US8</a:t>
            </a:r>
          </a:p>
          <a:p xmlns:a="http://schemas.openxmlformats.org/drawingml/2006/main">
            <a:pPr>
              <a:defRPr sz="1800" b="0">
                <a:solidFill>
                  <a:srgbClr val="D0E6ED"/>
                </a:solidFill>
                <a:latin typeface="Helvetica Neue"/>
                <a:ea typeface="Helvetica Neue"/>
                <a:cs typeface="Helvetica Neue"/>
              </a:defRPr>
            </a:pPr>
            <a:r>
              <a:rPr sz="1800" b="0">
                <a:solidFill>
                  <a:srgbClr val="D0E6ED"/>
                </a:solidFill>
                <a:latin typeface="Helvetica Neue"/>
                <a:ea typeface="Helvetica Neue"/>
                <a:cs typeface="Helvetica Neue"/>
              </a:rPr>
              <a:t>Résultats du 10 septembre 2026</a:t>
            </a:r>
          </a:p>
        </p:txBody>
      </p:sp>
    </p:spTree>
    <p:extLst>
      <p:ext uri="{BB962C8B-B14F-4D97-AF65-F5344CB8AC3E}">
        <p14:creationId xmlns:p14="http://schemas.microsoft.com/office/powerpoint/2010/main" val="16369830"/>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text-n8ud5m-72-48">
            <a:extLst xmlns:a="http://schemas.openxmlformats.org/drawingml/2006/main">
              <a:ext uri="{FF2B5EF4-FFF2-40B4-BE49-F238E27FC236}">
                <a16:creationId xmlns:a16="http://schemas.microsoft.com/office/drawing/2014/main" id="{9BE195FD-4909-472C-9EBF-2148B1A5D1D1}"/>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US1  ENVIRONNEMENT</a:t>
            </a:r>
          </a:p>
        </p:txBody>
      </p:sp>
      <p:sp>
        <p:nvSpPr>
          <p:cNvPr id="2" name="text-n8ud5m-72-103">
            <a:extLst xmlns:a="http://schemas.openxmlformats.org/drawingml/2006/main">
              <a:ext uri="{FF2B5EF4-FFF2-40B4-BE49-F238E27FC236}">
                <a16:creationId xmlns:a16="http://schemas.microsoft.com/office/drawing/2014/main" id="{4FB704DB-0B01-4341-B65D-89435E053AEE}"/>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Un Windows isolé</a:t>
            </a:r>
          </a:p>
        </p:txBody>
      </p:sp>
      <p:sp>
        <p:nvSpPr>
          <p:cNvPr id="3" name="text-n8ud5m-1164-660">
            <a:extLst xmlns:a="http://schemas.openxmlformats.org/drawingml/2006/main">
              <a:ext uri="{FF2B5EF4-FFF2-40B4-BE49-F238E27FC236}">
                <a16:creationId xmlns:a16="http://schemas.microsoft.com/office/drawing/2014/main" id="{D40AA624-5DFB-4C89-A8B8-0AE6AD5BB842}"/>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02</a:t>
            </a:r>
          </a:p>
        </p:txBody>
      </p:sp>
      <p:sp>
        <p:nvSpPr>
          <p:cNvPr id="4" name="text-n8ud5m-72-231">
            <a:extLst xmlns:a="http://schemas.openxmlformats.org/drawingml/2006/main">
              <a:ext uri="{FF2B5EF4-FFF2-40B4-BE49-F238E27FC236}">
                <a16:creationId xmlns:a16="http://schemas.microsoft.com/office/drawing/2014/main" id="{1A380C0D-7F36-425C-89B5-95C87DD4128F}"/>
              </a:ext>
            </a:extLst>
          </p:cNvPr>
          <p:cNvSpPr>
            <a:spLocks xmlns:a="http://schemas.openxmlformats.org/drawingml/2006/main" noGrp="1"/>
          </p:cNvSpPr>
          <p:nvPr/>
        </p:nvSpPr>
        <p:spPr>
          <a:xfrm xmlns:a="http://schemas.openxmlformats.org/drawingml/2006/main">
            <a:off x="685800" y="2200275"/>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52B3B"/>
                </a:solidFill>
                <a:latin typeface="Helvetica Neue"/>
                <a:ea typeface="Helvetica Neue"/>
                <a:cs typeface="Helvetica Neue"/>
              </a:defRPr>
            </a:pPr>
            <a:r>
              <a:rPr sz="2400" b="0">
                <a:solidFill>
                  <a:srgbClr val="152B3B"/>
                </a:solidFill>
                <a:latin typeface="Helvetica Neue"/>
                <a:ea typeface="Helvetica Neue"/>
                <a:cs typeface="Helvetica Neue"/>
              </a:rPr>
              <a:t>Windows 10 x64 dans QEMU,</a:t>
            </a:r>
          </a:p>
          <a:p xmlns:a="http://schemas.openxmlformats.org/drawingml/2006/main">
            <a:pPr>
              <a:defRPr sz="2400" b="0">
                <a:solidFill>
                  <a:srgbClr val="152B3B"/>
                </a:solidFill>
                <a:latin typeface="Helvetica Neue"/>
                <a:ea typeface="Helvetica Neue"/>
                <a:cs typeface="Helvetica Neue"/>
              </a:defRPr>
            </a:pPr>
            <a:r>
              <a:rPr sz="2400" b="0">
                <a:solidFill>
                  <a:srgbClr val="152B3B"/>
                </a:solidFill>
                <a:latin typeface="Helvetica Neue"/>
                <a:ea typeface="Helvetica Neue"/>
                <a:cs typeface="Helvetica Neue"/>
              </a:rPr>
              <a:t>piloté par Docker sur mon Mac.</a:t>
            </a:r>
          </a:p>
        </p:txBody>
      </p:sp>
      <p:sp>
        <p:nvSpPr>
          <p:cNvPr id="5" name="text-n8ud5m-72-366">
            <a:extLst xmlns:a="http://schemas.openxmlformats.org/drawingml/2006/main">
              <a:ext uri="{FF2B5EF4-FFF2-40B4-BE49-F238E27FC236}">
                <a16:creationId xmlns:a16="http://schemas.microsoft.com/office/drawing/2014/main" id="{3E0FC183-382C-4017-B30D-96FBF4EB0785}"/>
              </a:ext>
            </a:extLst>
          </p:cNvPr>
          <p:cNvSpPr>
            <a:spLocks xmlns:a="http://schemas.openxmlformats.org/drawingml/2006/main" noGrp="1"/>
          </p:cNvSpPr>
          <p:nvPr/>
        </p:nvSpPr>
        <p:spPr>
          <a:xfrm xmlns:a="http://schemas.openxmlformats.org/drawingml/2006/main">
            <a:off x="685800" y="3486150"/>
            <a:ext cx="7239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Carte réseau de la VM désactivée</a:t>
            </a:r>
          </a:p>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Conteneur sans accès réseau</a:t>
            </a:r>
          </a:p>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Console accessible en local</a:t>
            </a:r>
          </a:p>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Retour à l’état propre vérifié</a:t>
            </a:r>
          </a:p>
        </p:txBody>
      </p:sp>
      <p:sp>
        <p:nvSpPr>
          <p:cNvPr id="6" name="text-n8ud5m-975-228">
            <a:extLst xmlns:a="http://schemas.openxmlformats.org/drawingml/2006/main">
              <a:ext uri="{FF2B5EF4-FFF2-40B4-BE49-F238E27FC236}">
                <a16:creationId xmlns:a16="http://schemas.microsoft.com/office/drawing/2014/main" id="{E39526A0-5F80-4569-885D-322266E23E31}"/>
              </a:ext>
            </a:extLst>
          </p:cNvPr>
          <p:cNvSpPr>
            <a:spLocks xmlns:a="http://schemas.openxmlformats.org/drawingml/2006/main" noGrp="1"/>
          </p:cNvSpPr>
          <p:nvPr/>
        </p:nvSpPr>
        <p:spPr>
          <a:xfrm xmlns:a="http://schemas.openxmlformats.org/drawingml/2006/main">
            <a:off x="9286875" y="2171700"/>
            <a:ext cx="152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14798B"/>
                </a:solidFill>
                <a:latin typeface="Helvetica Neue"/>
                <a:ea typeface="Helvetica Neue"/>
                <a:cs typeface="Helvetica Neue"/>
              </a:defRPr>
            </a:pPr>
            <a:r>
              <a:rPr sz="4800" b="1">
                <a:solidFill>
                  <a:srgbClr val="14798B"/>
                </a:solidFill>
                <a:latin typeface="Helvetica Neue"/>
                <a:ea typeface="Helvetica Neue"/>
                <a:cs typeface="Helvetica Neue"/>
              </a:rPr>
              <a:t>2</a:t>
            </a:r>
          </a:p>
        </p:txBody>
      </p:sp>
      <p:sp>
        <p:nvSpPr>
          <p:cNvPr id="7" name="text-n8ud5m-876-308">
            <a:extLst xmlns:a="http://schemas.openxmlformats.org/drawingml/2006/main">
              <a:ext uri="{FF2B5EF4-FFF2-40B4-BE49-F238E27FC236}">
                <a16:creationId xmlns:a16="http://schemas.microsoft.com/office/drawing/2014/main" id="{31B7DBC0-2131-4A03-BD9B-4727D43626D5}"/>
              </a:ext>
            </a:extLst>
          </p:cNvPr>
          <p:cNvSpPr>
            <a:spLocks xmlns:a="http://schemas.openxmlformats.org/drawingml/2006/main" noGrp="1"/>
          </p:cNvSpPr>
          <p:nvPr/>
        </p:nvSpPr>
        <p:spPr>
          <a:xfrm xmlns:a="http://schemas.openxmlformats.org/drawingml/2006/main">
            <a:off x="8343900" y="29337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52B3B"/>
                </a:solidFill>
                <a:latin typeface="Helvetica Neue"/>
                <a:ea typeface="Helvetica Neue"/>
                <a:cs typeface="Helvetica Neue"/>
              </a:defRPr>
            </a:pPr>
            <a:r>
              <a:rPr sz="1875" b="0">
                <a:solidFill>
                  <a:srgbClr val="152B3B"/>
                </a:solidFill>
                <a:latin typeface="Helvetica Neue"/>
                <a:ea typeface="Helvetica Neue"/>
                <a:cs typeface="Helvetica Neue"/>
              </a:rPr>
              <a:t>processeurs virtuels</a:t>
            </a:r>
          </a:p>
        </p:txBody>
      </p:sp>
      <p:sp>
        <p:nvSpPr>
          <p:cNvPr id="8" name="text-n8ud5m-916-365">
            <a:extLst xmlns:a="http://schemas.openxmlformats.org/drawingml/2006/main">
              <a:ext uri="{FF2B5EF4-FFF2-40B4-BE49-F238E27FC236}">
                <a16:creationId xmlns:a16="http://schemas.microsoft.com/office/drawing/2014/main" id="{9677616A-3AC3-4AEF-B122-B02BEAF86954}"/>
              </a:ext>
            </a:extLst>
          </p:cNvPr>
          <p:cNvSpPr>
            <a:spLocks xmlns:a="http://schemas.openxmlformats.org/drawingml/2006/main" noGrp="1"/>
          </p:cNvSpPr>
          <p:nvPr/>
        </p:nvSpPr>
        <p:spPr>
          <a:xfrm xmlns:a="http://schemas.openxmlformats.org/drawingml/2006/main">
            <a:off x="8724900" y="34766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14798B"/>
                </a:solidFill>
                <a:latin typeface="Helvetica Neue"/>
                <a:ea typeface="Helvetica Neue"/>
                <a:cs typeface="Helvetica Neue"/>
              </a:defRPr>
            </a:pPr>
            <a:r>
              <a:rPr sz="4200" b="1">
                <a:solidFill>
                  <a:srgbClr val="14798B"/>
                </a:solidFill>
                <a:latin typeface="Helvetica Neue"/>
                <a:ea typeface="Helvetica Neue"/>
                <a:cs typeface="Helvetica Neue"/>
              </a:rPr>
              <a:t>4 Gio</a:t>
            </a:r>
          </a:p>
        </p:txBody>
      </p:sp>
      <p:sp>
        <p:nvSpPr>
          <p:cNvPr id="9" name="text-n8ud5m-909-438">
            <a:extLst xmlns:a="http://schemas.openxmlformats.org/drawingml/2006/main">
              <a:ext uri="{FF2B5EF4-FFF2-40B4-BE49-F238E27FC236}">
                <a16:creationId xmlns:a16="http://schemas.microsoft.com/office/drawing/2014/main" id="{64A231F3-7AE7-4BBD-B01A-B7BDE1BBBBBA}"/>
              </a:ext>
            </a:extLst>
          </p:cNvPr>
          <p:cNvSpPr>
            <a:spLocks xmlns:a="http://schemas.openxmlformats.org/drawingml/2006/main" noGrp="1"/>
          </p:cNvSpPr>
          <p:nvPr/>
        </p:nvSpPr>
        <p:spPr>
          <a:xfrm xmlns:a="http://schemas.openxmlformats.org/drawingml/2006/main">
            <a:off x="8658225" y="41719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52B3B"/>
                </a:solidFill>
                <a:latin typeface="Helvetica Neue"/>
                <a:ea typeface="Helvetica Neue"/>
                <a:cs typeface="Helvetica Neue"/>
              </a:defRPr>
            </a:pPr>
            <a:r>
              <a:rPr sz="1875" b="0">
                <a:solidFill>
                  <a:srgbClr val="152B3B"/>
                </a:solidFill>
                <a:latin typeface="Helvetica Neue"/>
                <a:ea typeface="Helvetica Neue"/>
                <a:cs typeface="Helvetica Neue"/>
              </a:rPr>
              <a:t>de mémoire vive</a:t>
            </a:r>
          </a:p>
        </p:txBody>
      </p:sp>
      <p:sp>
        <p:nvSpPr>
          <p:cNvPr id="10" name="text-n8ud5m-880-493">
            <a:extLst xmlns:a="http://schemas.openxmlformats.org/drawingml/2006/main">
              <a:ext uri="{FF2B5EF4-FFF2-40B4-BE49-F238E27FC236}">
                <a16:creationId xmlns:a16="http://schemas.microsoft.com/office/drawing/2014/main" id="{56E332F3-CD29-48B1-BF5C-2CAFC6F02BAB}"/>
              </a:ext>
            </a:extLst>
          </p:cNvPr>
          <p:cNvSpPr>
            <a:spLocks xmlns:a="http://schemas.openxmlformats.org/drawingml/2006/main" noGrp="1"/>
          </p:cNvSpPr>
          <p:nvPr/>
        </p:nvSpPr>
        <p:spPr>
          <a:xfrm xmlns:a="http://schemas.openxmlformats.org/drawingml/2006/main">
            <a:off x="8382000" y="469582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14798B"/>
                </a:solidFill>
                <a:latin typeface="Helvetica Neue"/>
                <a:ea typeface="Helvetica Neue"/>
                <a:cs typeface="Helvetica Neue"/>
              </a:defRPr>
            </a:pPr>
            <a:r>
              <a:rPr sz="4200" b="1">
                <a:solidFill>
                  <a:srgbClr val="14798B"/>
                </a:solidFill>
                <a:latin typeface="Helvetica Neue"/>
                <a:ea typeface="Helvetica Neue"/>
                <a:cs typeface="Helvetica Neue"/>
              </a:rPr>
              <a:t>64 Gio</a:t>
            </a:r>
          </a:p>
        </p:txBody>
      </p:sp>
      <p:sp>
        <p:nvSpPr>
          <p:cNvPr id="11" name="text-n8ud5m-981-565">
            <a:extLst xmlns:a="http://schemas.openxmlformats.org/drawingml/2006/main">
              <a:ext uri="{FF2B5EF4-FFF2-40B4-BE49-F238E27FC236}">
                <a16:creationId xmlns:a16="http://schemas.microsoft.com/office/drawing/2014/main" id="{43640DAD-3EAD-4B6A-B7BC-618FA87CAB5E}"/>
              </a:ext>
            </a:extLst>
          </p:cNvPr>
          <p:cNvSpPr>
            <a:spLocks xmlns:a="http://schemas.openxmlformats.org/drawingml/2006/main" noGrp="1"/>
          </p:cNvSpPr>
          <p:nvPr/>
        </p:nvSpPr>
        <p:spPr>
          <a:xfrm xmlns:a="http://schemas.openxmlformats.org/drawingml/2006/main">
            <a:off x="9344025" y="5381625"/>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52B3B"/>
                </a:solidFill>
                <a:latin typeface="Helvetica Neue"/>
                <a:ea typeface="Helvetica Neue"/>
                <a:cs typeface="Helvetica Neue"/>
              </a:defRPr>
            </a:pPr>
            <a:r>
              <a:rPr sz="1875" b="0">
                <a:solidFill>
                  <a:srgbClr val="152B3B"/>
                </a:solidFill>
                <a:latin typeface="Helvetica Neue"/>
                <a:ea typeface="Helvetica Neue"/>
                <a:cs typeface="Helvetica Neue"/>
              </a:rPr>
              <a:t>de disque</a:t>
            </a:r>
          </a:p>
        </p:txBody>
      </p:sp>
      <p:sp>
        <p:nvSpPr>
          <p:cNvPr id="12" name="text-n8ud5m-72-625">
            <a:extLst xmlns:a="http://schemas.openxmlformats.org/drawingml/2006/main">
              <a:ext uri="{FF2B5EF4-FFF2-40B4-BE49-F238E27FC236}">
                <a16:creationId xmlns:a16="http://schemas.microsoft.com/office/drawing/2014/main" id="{2BB3A7E4-7B0C-4299-9EC7-8A24E9F1D5F5}"/>
              </a:ext>
            </a:extLst>
          </p:cNvPr>
          <p:cNvSpPr>
            <a:spLocks xmlns:a="http://schemas.openxmlformats.org/drawingml/2006/main" noGrp="1"/>
          </p:cNvSpPr>
          <p:nvPr/>
        </p:nvSpPr>
        <p:spPr>
          <a:xfrm xmlns:a="http://schemas.openxmlformats.org/drawingml/2006/main">
            <a:off x="685800" y="5953125"/>
            <a:ext cx="1028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66B78"/>
                </a:solidFill>
                <a:latin typeface="Helvetica Neue"/>
                <a:ea typeface="Helvetica Neue"/>
                <a:cs typeface="Helvetica Neue"/>
              </a:defRPr>
            </a:pPr>
            <a:r>
              <a:rPr sz="1800" b="0">
                <a:solidFill>
                  <a:srgbClr val="566B78"/>
                </a:solidFill>
                <a:latin typeface="Helvetica Neue"/>
                <a:ea typeface="Helvetica Neue"/>
                <a:cs typeface="Helvetica Neue"/>
              </a:rPr>
              <a:t>Usage hors réseau validé. Aucune évasion de VM testée.</a:t>
            </a:r>
          </a:p>
        </p:txBody>
      </p:sp>
    </p:spTree>
    <p:extLst>
      <p:ext uri="{BB962C8B-B14F-4D97-AF65-F5344CB8AC3E}">
        <p14:creationId xmlns:p14="http://schemas.microsoft.com/office/powerpoint/2010/main" val="1680952807"/>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text-43dfw4-72-48">
            <a:extLst xmlns:a="http://schemas.openxmlformats.org/drawingml/2006/main">
              <a:ext uri="{FF2B5EF4-FFF2-40B4-BE49-F238E27FC236}">
                <a16:creationId xmlns:a16="http://schemas.microsoft.com/office/drawing/2014/main" id="{359F02E8-91BC-4CCD-BAF6-0E174107DB4E}"/>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US2  RECONNAISSANCE</a:t>
            </a:r>
          </a:p>
        </p:txBody>
      </p:sp>
      <p:sp>
        <p:nvSpPr>
          <p:cNvPr id="2" name="text-43dfw4-72-103">
            <a:extLst xmlns:a="http://schemas.openxmlformats.org/drawingml/2006/main">
              <a:ext uri="{FF2B5EF4-FFF2-40B4-BE49-F238E27FC236}">
                <a16:creationId xmlns:a16="http://schemas.microsoft.com/office/drawing/2014/main" id="{27223C44-6CDF-486E-A277-6E18B9D22B2C}"/>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Des fichiers déjà référencés</a:t>
            </a:r>
          </a:p>
        </p:txBody>
      </p:sp>
      <p:sp>
        <p:nvSpPr>
          <p:cNvPr id="3" name="text-43dfw4-1164-660">
            <a:extLst xmlns:a="http://schemas.openxmlformats.org/drawingml/2006/main">
              <a:ext uri="{FF2B5EF4-FFF2-40B4-BE49-F238E27FC236}">
                <a16:creationId xmlns:a16="http://schemas.microsoft.com/office/drawing/2014/main" id="{5DEF8FF0-7291-4AEA-82EE-172B782F846D}"/>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03</a:t>
            </a:r>
          </a:p>
        </p:txBody>
      </p:sp>
      <p:graphicFrame>
        <p:nvGraphicFramePr>
          <p:cNvPr id="10" name=""/>
          <p:cNvGraphicFramePr/>
          <p:nvPr/>
        </p:nvGraphicFramePr>
        <p:xfrm>
          <a:off xmlns:a="http://schemas.openxmlformats.org/drawingml/2006/main" x="685800" y="2095500"/>
          <a:ext xmlns:a="http://schemas.openxmlformats.org/drawingml/2006/main" cx="10820400" cy="3048000"/>
        </p:xfrm>
        <a:graphic xmlns:a="http://schemas.openxmlformats.org/drawingml/2006/main">
          <a:graphicData uri="http://schemas.openxmlformats.org/drawingml/2006/table">
            <a:tbl>
              <a:tblPr firstRow="1" bandRow="0"/>
              <a:tblGrid>
                <a:gridCol w="3048000"/>
                <a:gridCol w="2667000"/>
                <a:gridCol w="5105400"/>
              </a:tblGrid>
              <a:tr h="762000">
                <a:tc>
                  <a:txBody>
                    <a:bodyPr lIns="171450" tIns="114300" rIns="171450" bIns="114300">
                      <a:noAutofit/>
                    </a:bodyPr>
                    <a:lstStyle/>
                    <a:p>
                      <a:r>
                        <a:rPr sz="1800" b="1">
                          <a:solidFill>
                            <a:srgbClr val="566B78"/>
                          </a:solidFill>
                          <a:latin typeface="Helvetica Neue"/>
                          <a:ea typeface="Helvetica Neue"/>
                          <a:cs typeface="Helvetica Neue"/>
                        </a:rPr>
                        <a:t>Fichier</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VirusTotal</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MalwareBazaar</a:t>
                      </a:r>
                    </a:p>
                  </a:txBody>
                  <a:tcPr marL="91440" marR="91440" marT="45720" marB="45720" anchor="ctr">
                    <a:solidFill>
                      <a:srgbClr val="E5F0F4"/>
                    </a:solidFill>
                  </a:tcPr>
                </a:tc>
              </a:tr>
              <a:tr h="762000">
                <a:tc>
                  <a:txBody>
                    <a:bodyPr lIns="171450" tIns="114300" rIns="171450" bIns="114300">
                      <a:noAutofit/>
                    </a:bodyPr>
                    <a:lstStyle/>
                    <a:p>
                      <a:r>
                        <a:rPr sz="2250" b="1">
                          <a:solidFill>
                            <a:srgbClr val="152B3B"/>
                          </a:solidFill>
                          <a:latin typeface="Helvetica Neue"/>
                          <a:ea typeface="Helvetica Neue"/>
                          <a:cs typeface="Helvetica Neue"/>
                        </a:rPr>
                        <a:t>Res.exe</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49 / 71</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Dans le ZIP</a:t>
                      </a:r>
                    </a:p>
                  </a:txBody>
                  <a:tcPr marL="91440" marR="91440" marT="45720" marB="45720" anchor="ctr">
                    <a:solidFill>
                      <a:srgbClr val="FFFFFF"/>
                    </a:solidFill>
                  </a:tcPr>
                </a:tc>
              </a:tr>
              <a:tr h="762000">
                <a:tc>
                  <a:txBody>
                    <a:bodyPr lIns="171450" tIns="114300" rIns="171450" bIns="114300">
                      <a:noAutofit/>
                    </a:bodyPr>
                    <a:lstStyle/>
                    <a:p>
                      <a:r>
                        <a:rPr sz="2250" b="1">
                          <a:solidFill>
                            <a:srgbClr val="152B3B"/>
                          </a:solidFill>
                          <a:latin typeface="Helvetica Neue"/>
                          <a:ea typeface="Helvetica Neue"/>
                          <a:cs typeface="Helvetica Neue"/>
                        </a:rPr>
                        <a:t>Env.exe</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29 / 70</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Dans le ZIP</a:t>
                      </a:r>
                    </a:p>
                  </a:txBody>
                  <a:tcPr marL="91440" marR="91440" marT="45720" marB="45720" anchor="ctr">
                    <a:solidFill>
                      <a:srgbClr val="FFFFFF"/>
                    </a:solidFill>
                  </a:tcPr>
                </a:tc>
              </a:tr>
              <a:tr h="762000">
                <a:tc>
                  <a:txBody>
                    <a:bodyPr lIns="171450" tIns="114300" rIns="171450" bIns="114300">
                      <a:noAutofit/>
                    </a:bodyPr>
                    <a:lstStyle/>
                    <a:p>
                      <a:r>
                        <a:rPr sz="2250" b="1">
                          <a:solidFill>
                            <a:srgbClr val="152B3B"/>
                          </a:solidFill>
                          <a:latin typeface="Helvetica Neue"/>
                          <a:ea typeface="Helvetica Neue"/>
                          <a:cs typeface="Helvetica Neue"/>
                        </a:rPr>
                        <a:t>Malware.zip</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45 / 65</a:t>
                      </a:r>
                    </a:p>
                  </a:txBody>
                  <a:tcPr marL="91440" marR="91440" marT="45720" marB="45720" anchor="ctr">
                    <a:solidFill>
                      <a:srgbClr val="FFFFFF"/>
                    </a:solidFill>
                  </a:tcPr>
                </a:tc>
                <a:tc>
                  <a:txBody>
                    <a:bodyPr lIns="171450" tIns="114300" rIns="171450" bIns="114300">
                      <a:noAutofit/>
                    </a:bodyPr>
                    <a:lstStyle/>
                    <a:p>
                      <a:r>
                        <a:rPr sz="2250" b="0">
                          <a:solidFill>
                            <a:srgbClr val="152B3B"/>
                          </a:solidFill>
                          <a:latin typeface="Helvetica Neue"/>
                          <a:ea typeface="Helvetica Neue"/>
                          <a:cs typeface="Helvetica Neue"/>
                        </a:rPr>
                        <a:t>Fiche de l’archive</a:t>
                      </a:r>
                    </a:p>
                  </a:txBody>
                  <a:tcPr marL="91440" marR="91440" marT="45720" marB="45720" anchor="ctr">
                    <a:solidFill>
                      <a:srgbClr val="FFFFFF"/>
                    </a:solidFill>
                  </a:tcPr>
                </a:tc>
              </a:tr>
            </a:tbl>
          </a:graphicData>
        </a:graphic>
      </p:graphicFrame>
      <p:sp>
        <p:nvSpPr>
          <p:cNvPr id="5" name="text-43dfw4-72-572">
            <a:extLst xmlns:a="http://schemas.openxmlformats.org/drawingml/2006/main">
              <a:ext uri="{FF2B5EF4-FFF2-40B4-BE49-F238E27FC236}">
                <a16:creationId xmlns:a16="http://schemas.microsoft.com/office/drawing/2014/main" id="{CB34E948-777B-4EE1-80AF-0E4EEBA6840B}"/>
              </a:ext>
            </a:extLst>
          </p:cNvPr>
          <p:cNvSpPr>
            <a:spLocks xmlns:a="http://schemas.openxmlformats.org/drawingml/2006/main" noGrp="1"/>
          </p:cNvSpPr>
          <p:nvPr/>
        </p:nvSpPr>
        <p:spPr>
          <a:xfrm xmlns:a="http://schemas.openxmlformats.org/drawingml/2006/main">
            <a:off x="685800" y="54483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52B3B"/>
                </a:solidFill>
                <a:latin typeface="Helvetica Neue"/>
                <a:ea typeface="Helvetica Neue"/>
                <a:cs typeface="Helvetica Neue"/>
              </a:defRPr>
            </a:pPr>
            <a:r>
              <a:rPr sz="2175" b="0">
                <a:solidFill>
                  <a:srgbClr val="152B3B"/>
                </a:solidFill>
                <a:latin typeface="Helvetica Neue"/>
                <a:ea typeface="Helvetica Neue"/>
                <a:cs typeface="Helvetica Neue"/>
              </a:rPr>
              <a:t>SHA-256, SHA-1 et MD5 calculés pour identifier les fichiers.</a:t>
            </a:r>
          </a:p>
        </p:txBody>
      </p:sp>
      <p:sp>
        <p:nvSpPr>
          <p:cNvPr id="6" name="text-43dfw4-72-628">
            <a:extLst xmlns:a="http://schemas.openxmlformats.org/drawingml/2006/main">
              <a:ext uri="{FF2B5EF4-FFF2-40B4-BE49-F238E27FC236}">
                <a16:creationId xmlns:a16="http://schemas.microsoft.com/office/drawing/2014/main" id="{3F65D1CF-A88D-4887-96F1-DC4D362F68FA}"/>
              </a:ext>
            </a:extLst>
          </p:cNvPr>
          <p:cNvSpPr>
            <a:spLocks xmlns:a="http://schemas.openxmlformats.org/drawingml/2006/main" noGrp="1"/>
          </p:cNvSpPr>
          <p:nvPr/>
        </p:nvSpPr>
        <p:spPr>
          <a:xfrm xmlns:a="http://schemas.openxmlformats.org/drawingml/2006/main">
            <a:off x="685800" y="59817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66B78"/>
                </a:solidFill>
                <a:latin typeface="Helvetica Neue"/>
                <a:ea typeface="Helvetica Neue"/>
                <a:cs typeface="Helvetica Neue"/>
              </a:defRPr>
            </a:pPr>
            <a:r>
              <a:rPr sz="1800" b="0">
                <a:solidFill>
                  <a:srgbClr val="566B78"/>
                </a:solidFill>
                <a:latin typeface="Helvetica Neue"/>
                <a:ea typeface="Helvetica Neue"/>
                <a:cs typeface="Helvetica Neue"/>
              </a:rPr>
              <a:t>Ratios issus de rapports de dates différentes. Ils ne mesurent pas la dangerosité.</a:t>
            </a:r>
          </a:p>
        </p:txBody>
      </p:sp>
    </p:spTree>
    <p:extLst>
      <p:ext uri="{BB962C8B-B14F-4D97-AF65-F5344CB8AC3E}">
        <p14:creationId xmlns:p14="http://schemas.microsoft.com/office/powerpoint/2010/main" val="1108128333"/>
      </p:ext>
    </p:extLst>
  </p:cSld>
</p:sld>
</file>

<file path=ppt/slides/slide4.xml><?xml version="1.0" encoding="utf-8"?>
<p:sld xmlns:p="http://schemas.openxmlformats.org/presentationml/2006/main">
  <p:cSld>
    <p:bg>
      <p:bgPr>
        <a:solidFill xmlns:a="http://schemas.openxmlformats.org/drawingml/2006/main">
          <a:srgbClr val="0B1420"/>
        </a:solidFill>
      </p:bgPr>
    </p:bg>
    <p:spTree>
      <p:nvGrpSpPr>
        <p:cNvPr id="1" name=""/>
        <p:cNvGrpSpPr/>
        <p:nvPr/>
      </p:nvGrpSpPr>
      <p:grpSpPr>
        <a:xfrm xmlns:a="http://schemas.openxmlformats.org/drawingml/2006/main"/>
      </p:grpSpPr>
      <p:sp>
        <p:nvSpPr>
          <p:cNvPr id="9" name="text-1l7lc5-72-48">
            <a:extLst xmlns:a="http://schemas.openxmlformats.org/drawingml/2006/main">
              <a:ext uri="{FF2B5EF4-FFF2-40B4-BE49-F238E27FC236}">
                <a16:creationId xmlns:a16="http://schemas.microsoft.com/office/drawing/2014/main" id="{19822F12-66FA-41AD-B3CE-213BC5AFAD30}"/>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8DDBE7"/>
                </a:solidFill>
                <a:latin typeface="Helvetica Neue"/>
                <a:ea typeface="Helvetica Neue"/>
                <a:cs typeface="Helvetica Neue"/>
              </a:defRPr>
            </a:pPr>
            <a:r>
              <a:rPr sz="1800" b="1">
                <a:solidFill>
                  <a:srgbClr val="8DDBE7"/>
                </a:solidFill>
                <a:latin typeface="Helvetica Neue"/>
                <a:ea typeface="Helvetica Neue"/>
                <a:cs typeface="Helvetica Neue"/>
              </a:rPr>
              <a:t>US3  ANALYSE STATIQUE</a:t>
            </a:r>
          </a:p>
        </p:txBody>
      </p:sp>
      <p:sp>
        <p:nvSpPr>
          <p:cNvPr id="2" name="text-1l7lc5-72-103">
            <a:extLst xmlns:a="http://schemas.openxmlformats.org/drawingml/2006/main">
              <a:ext uri="{FF2B5EF4-FFF2-40B4-BE49-F238E27FC236}">
                <a16:creationId xmlns:a16="http://schemas.microsoft.com/office/drawing/2014/main" id="{7C638F35-64C4-4D55-968B-F4FF18B472BF}"/>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Deux rôles dans le code</a:t>
            </a:r>
          </a:p>
        </p:txBody>
      </p:sp>
      <p:sp>
        <p:nvSpPr>
          <p:cNvPr id="3" name="text-1l7lc5-1164-660">
            <a:extLst xmlns:a="http://schemas.openxmlformats.org/drawingml/2006/main">
              <a:ext uri="{FF2B5EF4-FFF2-40B4-BE49-F238E27FC236}">
                <a16:creationId xmlns:a16="http://schemas.microsoft.com/office/drawing/2014/main" id="{3AC04B36-6146-43B2-A119-6F5097794741}"/>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8DDBE7"/>
                </a:solidFill>
                <a:latin typeface="Helvetica Neue"/>
                <a:ea typeface="Helvetica Neue"/>
                <a:cs typeface="Helvetica Neue"/>
              </a:defRPr>
            </a:pPr>
            <a:r>
              <a:rPr sz="1500" b="0">
                <a:solidFill>
                  <a:srgbClr val="8DDBE7"/>
                </a:solidFill>
                <a:latin typeface="Helvetica Neue"/>
                <a:ea typeface="Helvetica Neue"/>
                <a:cs typeface="Helvetica Neue"/>
              </a:rPr>
              <a:t>04</a:t>
            </a:r>
          </a:p>
        </p:txBody>
      </p:sp>
      <p:sp>
        <p:nvSpPr>
          <p:cNvPr id="4" name="text-1l7lc5-72-228">
            <a:extLst xmlns:a="http://schemas.openxmlformats.org/drawingml/2006/main">
              <a:ext uri="{FF2B5EF4-FFF2-40B4-BE49-F238E27FC236}">
                <a16:creationId xmlns:a16="http://schemas.microsoft.com/office/drawing/2014/main" id="{174F8564-A95E-417C-82E7-C2C217BA28B8}"/>
              </a:ext>
            </a:extLst>
          </p:cNvPr>
          <p:cNvSpPr>
            <a:spLocks xmlns:a="http://schemas.openxmlformats.org/drawingml/2006/main" noGrp="1"/>
          </p:cNvSpPr>
          <p:nvPr/>
        </p:nvSpPr>
        <p:spPr>
          <a:xfrm xmlns:a="http://schemas.openxmlformats.org/drawingml/2006/main">
            <a:off x="685800" y="21717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8DDBE7"/>
                </a:solidFill>
                <a:latin typeface="Helvetica Neue"/>
                <a:ea typeface="Helvetica Neue"/>
                <a:cs typeface="Helvetica Neue"/>
              </a:defRPr>
            </a:pPr>
            <a:r>
              <a:rPr sz="3150" b="1">
                <a:solidFill>
                  <a:srgbClr val="8DDBE7"/>
                </a:solidFill>
                <a:latin typeface="Helvetica Neue"/>
                <a:ea typeface="Helvetica Neue"/>
                <a:cs typeface="Helvetica Neue"/>
              </a:rPr>
              <a:t>Res.exe</a:t>
            </a:r>
          </a:p>
        </p:txBody>
      </p:sp>
      <p:sp>
        <p:nvSpPr>
          <p:cNvPr id="5" name="text-1l7lc5-72-310">
            <a:extLst xmlns:a="http://schemas.openxmlformats.org/drawingml/2006/main">
              <a:ext uri="{FF2B5EF4-FFF2-40B4-BE49-F238E27FC236}">
                <a16:creationId xmlns:a16="http://schemas.microsoft.com/office/drawing/2014/main" id="{E099C597-2687-48DB-829A-122F0CC616A0}"/>
              </a:ext>
            </a:extLst>
          </p:cNvPr>
          <p:cNvSpPr>
            <a:spLocks xmlns:a="http://schemas.openxmlformats.org/drawingml/2006/main" noGrp="1"/>
          </p:cNvSpPr>
          <p:nvPr/>
        </p:nvSpPr>
        <p:spPr>
          <a:xfrm xmlns:a="http://schemas.openxmlformats.org/drawingml/2006/main">
            <a:off x="685800" y="2952750"/>
            <a:ext cx="52863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Interroge le clavier</a:t>
            </a:r>
          </a:p>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GetAsyncKeyState / GetKeyState</a:t>
            </a:r>
          </a:p>
          <a:p xmlns:a="http://schemas.openxmlformats.org/drawingml/2006/main">
            <a:r>
              <a:t/>
            </a:r>
          </a:p>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Écrit un journal et prévoit</a:t>
            </a:r>
          </a:p>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l’installation des fichiers.</a:t>
            </a:r>
          </a:p>
        </p:txBody>
      </p:sp>
      <p:sp>
        <p:nvSpPr>
          <p:cNvPr id="6" name="text-1l7lc5-714-228">
            <a:extLst xmlns:a="http://schemas.openxmlformats.org/drawingml/2006/main">
              <a:ext uri="{FF2B5EF4-FFF2-40B4-BE49-F238E27FC236}">
                <a16:creationId xmlns:a16="http://schemas.microsoft.com/office/drawing/2014/main" id="{F68D69FE-53AA-4CEE-A830-B1308A79D8A6}"/>
              </a:ext>
            </a:extLst>
          </p:cNvPr>
          <p:cNvSpPr>
            <a:spLocks xmlns:a="http://schemas.openxmlformats.org/drawingml/2006/main" noGrp="1"/>
          </p:cNvSpPr>
          <p:nvPr/>
        </p:nvSpPr>
        <p:spPr>
          <a:xfrm xmlns:a="http://schemas.openxmlformats.org/drawingml/2006/main">
            <a:off x="6800850" y="2171700"/>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8DDBE7"/>
                </a:solidFill>
                <a:latin typeface="Helvetica Neue"/>
                <a:ea typeface="Helvetica Neue"/>
                <a:cs typeface="Helvetica Neue"/>
              </a:defRPr>
            </a:pPr>
            <a:r>
              <a:rPr sz="3150" b="1">
                <a:solidFill>
                  <a:srgbClr val="8DDBE7"/>
                </a:solidFill>
                <a:latin typeface="Helvetica Neue"/>
                <a:ea typeface="Helvetica Neue"/>
                <a:cs typeface="Helvetica Neue"/>
              </a:rPr>
              <a:t>Env.exe</a:t>
            </a:r>
          </a:p>
        </p:txBody>
      </p:sp>
      <p:sp>
        <p:nvSpPr>
          <p:cNvPr id="7" name="text-1l7lc5-714-310">
            <a:extLst xmlns:a="http://schemas.openxmlformats.org/drawingml/2006/main">
              <a:ext uri="{FF2B5EF4-FFF2-40B4-BE49-F238E27FC236}">
                <a16:creationId xmlns:a16="http://schemas.microsoft.com/office/drawing/2014/main" id="{9BF758A4-B272-461F-A45E-84AA8BE0C70C}"/>
              </a:ext>
            </a:extLst>
          </p:cNvPr>
          <p:cNvSpPr>
            <a:spLocks xmlns:a="http://schemas.openxmlformats.org/drawingml/2006/main" noGrp="1"/>
          </p:cNvSpPr>
          <p:nvPr/>
        </p:nvSpPr>
        <p:spPr>
          <a:xfrm xmlns:a="http://schemas.openxmlformats.org/drawingml/2006/main">
            <a:off x="6800850" y="2952750"/>
            <a:ext cx="4667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Lit le journal</a:t>
            </a:r>
          </a:p>
          <a:p xmlns:a="http://schemas.openxmlformats.org/drawingml/2006/main">
            <a:r>
              <a:t/>
            </a:r>
          </a:p>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Prépare un envoi SMTP chiffré</a:t>
            </a:r>
          </a:p>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smtp.laposte.net:465</a:t>
            </a:r>
          </a:p>
        </p:txBody>
      </p:sp>
      <p:sp>
        <p:nvSpPr>
          <p:cNvPr id="8" name="text-1l7lc5-72-620">
            <a:extLst xmlns:a="http://schemas.openxmlformats.org/drawingml/2006/main">
              <a:ext uri="{FF2B5EF4-FFF2-40B4-BE49-F238E27FC236}">
                <a16:creationId xmlns:a16="http://schemas.microsoft.com/office/drawing/2014/main" id="{41EBEA78-6577-4D87-8D5E-1FCDDE86C1E6}"/>
              </a:ext>
            </a:extLst>
          </p:cNvPr>
          <p:cNvSpPr>
            <a:spLocks xmlns:a="http://schemas.openxmlformats.org/drawingml/2006/main" noGrp="1"/>
          </p:cNvSpPr>
          <p:nvPr/>
        </p:nvSpPr>
        <p:spPr>
          <a:xfrm xmlns:a="http://schemas.openxmlformats.org/drawingml/2006/main">
            <a:off x="685800" y="590550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B9D0DB"/>
                </a:solidFill>
                <a:latin typeface="Helvetica Neue"/>
                <a:ea typeface="Helvetica Neue"/>
                <a:cs typeface="Helvetica Neue"/>
              </a:defRPr>
            </a:pPr>
            <a:r>
              <a:rPr sz="1800" b="0">
                <a:solidFill>
                  <a:srgbClr val="B9D0DB"/>
                </a:solidFill>
                <a:latin typeface="Helvetica Neue"/>
                <a:ea typeface="Helvetica Neue"/>
                <a:cs typeface="Helvetica Neue"/>
              </a:rPr>
              <a:t>Capacités identifiées dans le code. Leur réussite doit être vérifiée à l’exécution.</a:t>
            </a:r>
          </a:p>
        </p:txBody>
      </p:sp>
    </p:spTree>
    <p:extLst>
      <p:ext uri="{BB962C8B-B14F-4D97-AF65-F5344CB8AC3E}">
        <p14:creationId xmlns:p14="http://schemas.microsoft.com/office/powerpoint/2010/main" val="1570230262"/>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text-42wawz-72-48">
            <a:extLst xmlns:a="http://schemas.openxmlformats.org/drawingml/2006/main">
              <a:ext uri="{FF2B5EF4-FFF2-40B4-BE49-F238E27FC236}">
                <a16:creationId xmlns:a16="http://schemas.microsoft.com/office/drawing/2014/main" id="{84B987D1-43BF-4868-BE67-C47B386B7158}"/>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US4  ANALYSE DYNAMIQUE</a:t>
            </a:r>
          </a:p>
        </p:txBody>
      </p:sp>
      <p:sp>
        <p:nvSpPr>
          <p:cNvPr id="2" name="text-42wawz-72-103">
            <a:extLst xmlns:a="http://schemas.openxmlformats.org/drawingml/2006/main">
              <a:ext uri="{FF2B5EF4-FFF2-40B4-BE49-F238E27FC236}">
                <a16:creationId xmlns:a16="http://schemas.microsoft.com/office/drawing/2014/main" id="{CA143E7A-045A-4A90-9E34-D5F386209161}"/>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Ce que l’exécution confirme</a:t>
            </a:r>
          </a:p>
        </p:txBody>
      </p:sp>
      <p:sp>
        <p:nvSpPr>
          <p:cNvPr id="3" name="text-42wawz-1164-660">
            <a:extLst xmlns:a="http://schemas.openxmlformats.org/drawingml/2006/main">
              <a:ext uri="{FF2B5EF4-FFF2-40B4-BE49-F238E27FC236}">
                <a16:creationId xmlns:a16="http://schemas.microsoft.com/office/drawing/2014/main" id="{88388312-AF44-4636-8D16-52AABE348109}"/>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05</a:t>
            </a:r>
          </a:p>
        </p:txBody>
      </p:sp>
      <p:sp>
        <p:nvSpPr>
          <p:cNvPr id="4" name="text-42wawz-72-230">
            <a:extLst xmlns:a="http://schemas.openxmlformats.org/drawingml/2006/main">
              <a:ext uri="{FF2B5EF4-FFF2-40B4-BE49-F238E27FC236}">
                <a16:creationId xmlns:a16="http://schemas.microsoft.com/office/drawing/2014/main" id="{EC3CEDBE-5350-4FF6-A516-FDC88E5BFA0E}"/>
              </a:ext>
            </a:extLst>
          </p:cNvPr>
          <p:cNvSpPr>
            <a:spLocks xmlns:a="http://schemas.openxmlformats.org/drawingml/2006/main" noGrp="1"/>
          </p:cNvSpPr>
          <p:nvPr/>
        </p:nvSpPr>
        <p:spPr>
          <a:xfrm xmlns:a="http://schemas.openxmlformats.org/drawingml/2006/main">
            <a:off x="685800" y="2190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4798B"/>
                </a:solidFill>
                <a:latin typeface="Helvetica Neue"/>
                <a:ea typeface="Helvetica Neue"/>
                <a:cs typeface="Helvetica Neue"/>
              </a:defRPr>
            </a:pPr>
            <a:r>
              <a:rPr sz="2550" b="1">
                <a:solidFill>
                  <a:srgbClr val="14798B"/>
                </a:solidFill>
                <a:latin typeface="Helvetica Neue"/>
                <a:ea typeface="Helvetica Neue"/>
                <a:cs typeface="Helvetica Neue"/>
              </a:rPr>
              <a:t>Premier essai</a:t>
            </a:r>
          </a:p>
        </p:txBody>
      </p:sp>
      <p:sp>
        <p:nvSpPr>
          <p:cNvPr id="5" name="text-42wawz-72-316">
            <a:extLst xmlns:a="http://schemas.openxmlformats.org/drawingml/2006/main">
              <a:ext uri="{FF2B5EF4-FFF2-40B4-BE49-F238E27FC236}">
                <a16:creationId xmlns:a16="http://schemas.microsoft.com/office/drawing/2014/main" id="{5E5225E8-708F-4791-AEE3-F04BAAEA41A9}"/>
              </a:ext>
            </a:extLst>
          </p:cNvPr>
          <p:cNvSpPr>
            <a:spLocks xmlns:a="http://schemas.openxmlformats.org/drawingml/2006/main" noGrp="1"/>
          </p:cNvSpPr>
          <p:nvPr/>
        </p:nvSpPr>
        <p:spPr>
          <a:xfrm xmlns:a="http://schemas.openxmlformats.org/drawingml/2006/main">
            <a:off x="685800" y="3009900"/>
            <a:ext cx="5048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52B3B"/>
                </a:solidFill>
                <a:latin typeface="Helvetica Neue"/>
                <a:ea typeface="Helvetica Neue"/>
                <a:cs typeface="Helvetica Neue"/>
              </a:defRPr>
            </a:pPr>
            <a:r>
              <a:rPr sz="2325" b="0">
                <a:solidFill>
                  <a:srgbClr val="152B3B"/>
                </a:solidFill>
                <a:latin typeface="Helvetica Neue"/>
                <a:ea typeface="Helvetica Neue"/>
                <a:cs typeface="Helvetica Neue"/>
              </a:rPr>
              <a:t>Fichiers copiés dans WindSyst</a:t>
            </a:r>
          </a:p>
          <a:p xmlns:a="http://schemas.openxmlformats.org/drawingml/2006/main">
            <a:pPr>
              <a:defRPr sz="2325" b="0">
                <a:solidFill>
                  <a:srgbClr val="152B3B"/>
                </a:solidFill>
                <a:latin typeface="Helvetica Neue"/>
                <a:ea typeface="Helvetica Neue"/>
                <a:cs typeface="Helvetica Neue"/>
              </a:defRPr>
            </a:pPr>
            <a:r>
              <a:rPr sz="2325" b="0">
                <a:solidFill>
                  <a:srgbClr val="152B3B"/>
                </a:solidFill>
                <a:latin typeface="Helvetica Neue"/>
                <a:ea typeface="Helvetica Neue"/>
                <a:cs typeface="Helvetica Neue"/>
              </a:rPr>
              <a:t>Deux valeurs Run écrites</a:t>
            </a:r>
          </a:p>
          <a:p xmlns:a="http://schemas.openxmlformats.org/drawingml/2006/main">
            <a:pPr>
              <a:defRPr sz="2325" b="0">
                <a:solidFill>
                  <a:srgbClr val="152B3B"/>
                </a:solidFill>
                <a:latin typeface="Helvetica Neue"/>
                <a:ea typeface="Helvetica Neue"/>
                <a:cs typeface="Helvetica Neue"/>
              </a:defRPr>
            </a:pPr>
            <a:r>
              <a:rPr sz="2325" b="0">
                <a:solidFill>
                  <a:srgbClr val="152B3B"/>
                </a:solidFill>
                <a:latin typeface="Helvetica Neue"/>
                <a:ea typeface="Helvetica Neue"/>
                <a:cs typeface="Helvetica Neue"/>
              </a:rPr>
              <a:t>Neuf écritures dans log.txt</a:t>
            </a:r>
          </a:p>
        </p:txBody>
      </p:sp>
      <p:sp>
        <p:nvSpPr>
          <p:cNvPr id="6" name="text-42wawz-724-230">
            <a:extLst xmlns:a="http://schemas.openxmlformats.org/drawingml/2006/main">
              <a:ext uri="{FF2B5EF4-FFF2-40B4-BE49-F238E27FC236}">
                <a16:creationId xmlns:a16="http://schemas.microsoft.com/office/drawing/2014/main" id="{E0EB2B0E-7A78-4D4F-BF0F-37987B63BF6E}"/>
              </a:ext>
            </a:extLst>
          </p:cNvPr>
          <p:cNvSpPr>
            <a:spLocks xmlns:a="http://schemas.openxmlformats.org/drawingml/2006/main" noGrp="1"/>
          </p:cNvSpPr>
          <p:nvPr/>
        </p:nvSpPr>
        <p:spPr>
          <a:xfrm xmlns:a="http://schemas.openxmlformats.org/drawingml/2006/main">
            <a:off x="6896100" y="21907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4798B"/>
                </a:solidFill>
                <a:latin typeface="Helvetica Neue"/>
                <a:ea typeface="Helvetica Neue"/>
                <a:cs typeface="Helvetica Neue"/>
              </a:defRPr>
            </a:pPr>
            <a:r>
              <a:rPr sz="2550" b="1">
                <a:solidFill>
                  <a:srgbClr val="14798B"/>
                </a:solidFill>
                <a:latin typeface="Helvetica Neue"/>
                <a:ea typeface="Helvetica Neue"/>
                <a:cs typeface="Helvetica Neue"/>
              </a:rPr>
              <a:t>Second essai</a:t>
            </a:r>
          </a:p>
        </p:txBody>
      </p:sp>
      <p:sp>
        <p:nvSpPr>
          <p:cNvPr id="7" name="text-42wawz-724-316">
            <a:extLst xmlns:a="http://schemas.openxmlformats.org/drawingml/2006/main">
              <a:ext uri="{FF2B5EF4-FFF2-40B4-BE49-F238E27FC236}">
                <a16:creationId xmlns:a16="http://schemas.microsoft.com/office/drawing/2014/main" id="{2599AA6C-EB6A-445D-A41D-DD9C547B772A}"/>
              </a:ext>
            </a:extLst>
          </p:cNvPr>
          <p:cNvSpPr>
            <a:spLocks xmlns:a="http://schemas.openxmlformats.org/drawingml/2006/main" noGrp="1"/>
          </p:cNvSpPr>
          <p:nvPr/>
        </p:nvSpPr>
        <p:spPr>
          <a:xfrm xmlns:a="http://schemas.openxmlformats.org/drawingml/2006/main">
            <a:off x="6896100" y="3009900"/>
            <a:ext cx="46482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Env.exe échoue au démarrage</a:t>
            </a:r>
          </a:p>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Plugin Qt « windows » manquant</a:t>
            </a:r>
          </a:p>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Sortie avec le code 3</a:t>
            </a:r>
          </a:p>
        </p:txBody>
      </p:sp>
      <p:sp>
        <p:nvSpPr>
          <p:cNvPr id="8" name="text-42wawz-72-553">
            <a:extLst xmlns:a="http://schemas.openxmlformats.org/drawingml/2006/main">
              <a:ext uri="{FF2B5EF4-FFF2-40B4-BE49-F238E27FC236}">
                <a16:creationId xmlns:a16="http://schemas.microsoft.com/office/drawing/2014/main" id="{1B67540C-2BF7-4A1B-A30D-2C2121D10347}"/>
              </a:ext>
            </a:extLst>
          </p:cNvPr>
          <p:cNvSpPr>
            <a:spLocks xmlns:a="http://schemas.openxmlformats.org/drawingml/2006/main" noGrp="1"/>
          </p:cNvSpPr>
          <p:nvPr/>
        </p:nvSpPr>
        <p:spPr>
          <a:xfrm xmlns:a="http://schemas.openxmlformats.org/drawingml/2006/main">
            <a:off x="685800" y="5267325"/>
            <a:ext cx="10001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AD641A"/>
                </a:solidFill>
                <a:latin typeface="Helvetica Neue"/>
                <a:ea typeface="Helvetica Neue"/>
                <a:cs typeface="Helvetica Neue"/>
              </a:defRPr>
            </a:pPr>
            <a:r>
              <a:rPr sz="2850" b="1">
                <a:solidFill>
                  <a:srgbClr val="AD641A"/>
                </a:solidFill>
                <a:latin typeface="Helvetica Neue"/>
                <a:ea typeface="Helvetica Neue"/>
                <a:cs typeface="Helvetica Neue"/>
              </a:rPr>
              <a:t>Le critère réseau reste partiel</a:t>
            </a:r>
          </a:p>
        </p:txBody>
      </p:sp>
      <p:sp>
        <p:nvSpPr>
          <p:cNvPr id="9" name="text-42wawz-72-617">
            <a:extLst xmlns:a="http://schemas.openxmlformats.org/drawingml/2006/main">
              <a:ext uri="{FF2B5EF4-FFF2-40B4-BE49-F238E27FC236}">
                <a16:creationId xmlns:a16="http://schemas.microsoft.com/office/drawing/2014/main" id="{247547FC-30F4-48D7-BC4B-1F0175E76931}"/>
              </a:ext>
            </a:extLst>
          </p:cNvPr>
          <p:cNvSpPr>
            <a:spLocks xmlns:a="http://schemas.openxmlformats.org/drawingml/2006/main" noGrp="1"/>
          </p:cNvSpPr>
          <p:nvPr/>
        </p:nvSpPr>
        <p:spPr>
          <a:xfrm xmlns:a="http://schemas.openxmlformats.org/drawingml/2006/main">
            <a:off x="685800" y="5876925"/>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66B78"/>
                </a:solidFill>
                <a:latin typeface="Helvetica Neue"/>
                <a:ea typeface="Helvetica Neue"/>
                <a:cs typeface="Helvetica Neue"/>
              </a:defRPr>
            </a:pPr>
            <a:r>
              <a:rPr sz="2100" b="0">
                <a:solidFill>
                  <a:srgbClr val="566B78"/>
                </a:solidFill>
                <a:latin typeface="Helvetica Neue"/>
                <a:ea typeface="Helvetica Neue"/>
                <a:cs typeface="Helvetica Neue"/>
              </a:rPr>
              <a:t>VM hors réseau et aucun envoi SMTP observé.</a:t>
            </a:r>
          </a:p>
        </p:txBody>
      </p:sp>
    </p:spTree>
    <p:extLst>
      <p:ext uri="{BB962C8B-B14F-4D97-AF65-F5344CB8AC3E}">
        <p14:creationId xmlns:p14="http://schemas.microsoft.com/office/powerpoint/2010/main" val="1106728380"/>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text-kfgnus-72-48">
            <a:extLst xmlns:a="http://schemas.openxmlformats.org/drawingml/2006/main">
              <a:ext uri="{FF2B5EF4-FFF2-40B4-BE49-F238E27FC236}">
                <a16:creationId xmlns:a16="http://schemas.microsoft.com/office/drawing/2014/main" id="{2B350845-55DA-49EB-9027-B9AA319B03F2}"/>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US5  RISQUES</a:t>
            </a:r>
          </a:p>
        </p:txBody>
      </p:sp>
      <p:sp>
        <p:nvSpPr>
          <p:cNvPr id="2" name="text-kfgnus-72-103">
            <a:extLst xmlns:a="http://schemas.openxmlformats.org/drawingml/2006/main">
              <a:ext uri="{FF2B5EF4-FFF2-40B4-BE49-F238E27FC236}">
                <a16:creationId xmlns:a16="http://schemas.microsoft.com/office/drawing/2014/main" id="{0E74F87A-0C99-48EE-A7BB-5D874E5E9EC4}"/>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Le risque principal concerne les saisies</a:t>
            </a:r>
          </a:p>
        </p:txBody>
      </p:sp>
      <p:sp>
        <p:nvSpPr>
          <p:cNvPr id="3" name="text-kfgnus-1164-660">
            <a:extLst xmlns:a="http://schemas.openxmlformats.org/drawingml/2006/main">
              <a:ext uri="{FF2B5EF4-FFF2-40B4-BE49-F238E27FC236}">
                <a16:creationId xmlns:a16="http://schemas.microsoft.com/office/drawing/2014/main" id="{FCBBEFD0-DC8B-4C2D-9CBE-4BDC5C2C68EF}"/>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06</a:t>
            </a:r>
          </a:p>
        </p:txBody>
      </p:sp>
      <p:graphicFrame>
        <p:nvGraphicFramePr>
          <p:cNvPr id="9" name=""/>
          <p:cNvGraphicFramePr/>
          <p:nvPr/>
        </p:nvGraphicFramePr>
        <p:xfrm>
          <a:off xmlns:a="http://schemas.openxmlformats.org/drawingml/2006/main" x="685800" y="2066925"/>
          <a:ext xmlns:a="http://schemas.openxmlformats.org/drawingml/2006/main" cx="10820400" cy="3305175"/>
        </p:xfrm>
        <a:graphic xmlns:a="http://schemas.openxmlformats.org/drawingml/2006/main">
          <a:graphicData uri="http://schemas.openxmlformats.org/drawingml/2006/table">
            <a:tbl>
              <a:tblPr firstRow="1" bandRow="0"/>
              <a:tblGrid>
                <a:gridCol w="3429000"/>
                <a:gridCol w="2952750"/>
                <a:gridCol w="4438650"/>
              </a:tblGrid>
              <a:tr h="661035">
                <a:tc>
                  <a:txBody>
                    <a:bodyPr lIns="171450" tIns="114300" rIns="171450" bIns="114300">
                      <a:noAutofit/>
                    </a:bodyPr>
                    <a:lstStyle/>
                    <a:p>
                      <a:r>
                        <a:rPr sz="1800" b="1">
                          <a:solidFill>
                            <a:srgbClr val="566B78"/>
                          </a:solidFill>
                          <a:latin typeface="Helvetica Neue"/>
                          <a:ea typeface="Helvetica Neue"/>
                          <a:cs typeface="Helvetica Neue"/>
                        </a:rPr>
                        <a:t>Risque</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Niveau</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Constat</a:t>
                      </a:r>
                    </a:p>
                  </a:txBody>
                  <a:tcPr marL="91440" marR="91440" marT="45720" marB="45720" anchor="ctr">
                    <a:solidFill>
                      <a:srgbClr val="E5F0F4"/>
                    </a:solidFill>
                  </a:tcPr>
                </a:tc>
              </a:tr>
              <a:tr h="661035">
                <a:tc>
                  <a:txBody>
                    <a:bodyPr lIns="171450" tIns="114300" rIns="171450" bIns="114300">
                      <a:noAutofit/>
                    </a:bodyPr>
                    <a:lstStyle/>
                    <a:p>
                      <a:r>
                        <a:rPr sz="1875" b="1">
                          <a:solidFill>
                            <a:srgbClr val="152B3B"/>
                          </a:solidFill>
                          <a:latin typeface="Helvetica Neue"/>
                          <a:ea typeface="Helvetica Neue"/>
                          <a:cs typeface="Helvetica Neue"/>
                        </a:rPr>
                        <a:t>Collecte des saisies</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Élevé si secrets</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Collecte complète non démontrée</a:t>
                      </a:r>
                    </a:p>
                  </a:txBody>
                  <a:tcPr marL="91440" marR="91440" marT="45720" marB="45720" anchor="ctr">
                    <a:solidFill>
                      <a:srgbClr val="FFFFFF"/>
                    </a:solidFill>
                  </a:tcPr>
                </a:tc>
              </a:tr>
              <a:tr h="661035">
                <a:tc>
                  <a:txBody>
                    <a:bodyPr lIns="171450" tIns="114300" rIns="171450" bIns="114300">
                      <a:noAutofit/>
                    </a:bodyPr>
                    <a:lstStyle/>
                    <a:p>
                      <a:r>
                        <a:rPr sz="1875" b="1">
                          <a:solidFill>
                            <a:srgbClr val="152B3B"/>
                          </a:solidFill>
                          <a:latin typeface="Helvetica Neue"/>
                          <a:ea typeface="Helvetica Neue"/>
                          <a:cs typeface="Helvetica Neue"/>
                        </a:rPr>
                        <a:t>Installation</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Modéré</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Copies et valeurs Run observées</a:t>
                      </a:r>
                    </a:p>
                  </a:txBody>
                  <a:tcPr marL="91440" marR="91440" marT="45720" marB="45720" anchor="ctr">
                    <a:solidFill>
                      <a:srgbClr val="FFFFFF"/>
                    </a:solidFill>
                  </a:tcPr>
                </a:tc>
              </a:tr>
              <a:tr h="661035">
                <a:tc>
                  <a:txBody>
                    <a:bodyPr lIns="171450" tIns="114300" rIns="171450" bIns="114300">
                      <a:noAutofit/>
                    </a:bodyPr>
                    <a:lstStyle/>
                    <a:p>
                      <a:r>
                        <a:rPr sz="1875" b="1">
                          <a:solidFill>
                            <a:srgbClr val="152B3B"/>
                          </a:solidFill>
                          <a:latin typeface="Helvetica Neue"/>
                          <a:ea typeface="Helvetica Neue"/>
                          <a:cs typeface="Helvetica Neue"/>
                        </a:rPr>
                        <a:t>Envoi du journal</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Élevé conditionnel</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Aucun transfert observé</a:t>
                      </a:r>
                    </a:p>
                  </a:txBody>
                  <a:tcPr marL="91440" marR="91440" marT="45720" marB="45720" anchor="ctr">
                    <a:solidFill>
                      <a:srgbClr val="FFFFFF"/>
                    </a:solidFill>
                  </a:tcPr>
                </a:tc>
              </a:tr>
              <a:tr h="661035">
                <a:tc>
                  <a:txBody>
                    <a:bodyPr lIns="171450" tIns="114300" rIns="171450" bIns="114300">
                      <a:noAutofit/>
                    </a:bodyPr>
                    <a:lstStyle/>
                    <a:p>
                      <a:r>
                        <a:rPr sz="1875" b="1">
                          <a:solidFill>
                            <a:srgbClr val="152B3B"/>
                          </a:solidFill>
                          <a:latin typeface="Helvetica Neue"/>
                          <a:ea typeface="Helvetica Neue"/>
                          <a:cs typeface="Helvetica Neue"/>
                        </a:rPr>
                        <a:t>Perturbation</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Faible dans les essais</a:t>
                      </a:r>
                    </a:p>
                  </a:txBody>
                  <a:tcPr marL="91440" marR="91440" marT="45720" marB="45720" anchor="ctr">
                    <a:solidFill>
                      <a:srgbClr val="FFFFFF"/>
                    </a:solidFill>
                  </a:tcPr>
                </a:tc>
                <a:tc>
                  <a:txBody>
                    <a:bodyPr lIns="171450" tIns="114300" rIns="171450" bIns="114300">
                      <a:noAutofit/>
                    </a:bodyPr>
                    <a:lstStyle/>
                    <a:p>
                      <a:r>
                        <a:rPr sz="1875" b="0">
                          <a:solidFill>
                            <a:srgbClr val="152B3B"/>
                          </a:solidFill>
                          <a:latin typeface="Helvetica Neue"/>
                          <a:ea typeface="Helvetica Neue"/>
                          <a:cs typeface="Helvetica Neue"/>
                        </a:rPr>
                        <a:t>Erreur applicative</a:t>
                      </a:r>
                    </a:p>
                  </a:txBody>
                  <a:tcPr marL="91440" marR="91440" marT="45720" marB="45720" anchor="ctr">
                    <a:solidFill>
                      <a:srgbClr val="FFFFFF"/>
                    </a:solidFill>
                  </a:tcPr>
                </a:tc>
              </a:tr>
            </a:tbl>
          </a:graphicData>
        </a:graphic>
      </p:graphicFrame>
      <p:sp>
        <p:nvSpPr>
          <p:cNvPr id="5" name="text-kfgnus-72-604">
            <a:extLst xmlns:a="http://schemas.openxmlformats.org/drawingml/2006/main">
              <a:ext uri="{FF2B5EF4-FFF2-40B4-BE49-F238E27FC236}">
                <a16:creationId xmlns:a16="http://schemas.microsoft.com/office/drawing/2014/main" id="{05D5BFC4-3830-4DCE-876F-3BEC27FF5813}"/>
              </a:ext>
            </a:extLst>
          </p:cNvPr>
          <p:cNvSpPr>
            <a:spLocks xmlns:a="http://schemas.openxmlformats.org/drawingml/2006/main" noGrp="1"/>
          </p:cNvSpPr>
          <p:nvPr/>
        </p:nvSpPr>
        <p:spPr>
          <a:xfrm xmlns:a="http://schemas.openxmlformats.org/drawingml/2006/main">
            <a:off x="685800" y="57531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52B3B"/>
                </a:solidFill>
                <a:latin typeface="Helvetica Neue"/>
                <a:ea typeface="Helvetica Neue"/>
                <a:cs typeface="Helvetica Neue"/>
              </a:defRPr>
            </a:pPr>
            <a:r>
              <a:rPr sz="2175" b="0">
                <a:solidFill>
                  <a:srgbClr val="152B3B"/>
                </a:solidFill>
                <a:latin typeface="Helvetica Neue"/>
                <a:ea typeface="Helvetica Neue"/>
                <a:cs typeface="Helvetica Neue"/>
              </a:rPr>
              <a:t>Priorité : isoler le poste, préserver les preuves et restaurer un état sain.</a:t>
            </a:r>
          </a:p>
        </p:txBody>
      </p:sp>
    </p:spTree>
    <p:extLst>
      <p:ext uri="{BB962C8B-B14F-4D97-AF65-F5344CB8AC3E}">
        <p14:creationId xmlns:p14="http://schemas.microsoft.com/office/powerpoint/2010/main" val="1164910769"/>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text-5qu3nx-72-48">
            <a:extLst xmlns:a="http://schemas.openxmlformats.org/drawingml/2006/main">
              <a:ext uri="{FF2B5EF4-FFF2-40B4-BE49-F238E27FC236}">
                <a16:creationId xmlns:a16="http://schemas.microsoft.com/office/drawing/2014/main" id="{BE32B232-C8F2-46CD-99C4-676B4BF6F20E}"/>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US6  MÉMOIRE VIVE</a:t>
            </a:r>
          </a:p>
        </p:txBody>
      </p:sp>
      <p:sp>
        <p:nvSpPr>
          <p:cNvPr id="2" name="text-5qu3nx-72-103">
            <a:extLst xmlns:a="http://schemas.openxmlformats.org/drawingml/2006/main">
              <a:ext uri="{FF2B5EF4-FFF2-40B4-BE49-F238E27FC236}">
                <a16:creationId xmlns:a16="http://schemas.microsoft.com/office/drawing/2014/main" id="{00D80F3B-443D-423D-A1BE-1D3DC46B4A41}"/>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Res.exe est présent dans la RAM</a:t>
            </a:r>
          </a:p>
        </p:txBody>
      </p:sp>
      <p:sp>
        <p:nvSpPr>
          <p:cNvPr id="3" name="text-5qu3nx-1164-660">
            <a:extLst xmlns:a="http://schemas.openxmlformats.org/drawingml/2006/main">
              <a:ext uri="{FF2B5EF4-FFF2-40B4-BE49-F238E27FC236}">
                <a16:creationId xmlns:a16="http://schemas.microsoft.com/office/drawing/2014/main" id="{7F3C2FBB-D65C-466C-824B-EE8722F56FD5}"/>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07</a:t>
            </a:r>
          </a:p>
        </p:txBody>
      </p:sp>
      <p:sp>
        <p:nvSpPr>
          <p:cNvPr id="4" name="text-5qu3nx-72-212">
            <a:extLst xmlns:a="http://schemas.openxmlformats.org/drawingml/2006/main">
              <a:ext uri="{FF2B5EF4-FFF2-40B4-BE49-F238E27FC236}">
                <a16:creationId xmlns:a16="http://schemas.microsoft.com/office/drawing/2014/main" id="{AE9AB956-ED96-4ACB-B929-3697B1FB9EC7}"/>
              </a:ext>
            </a:extLst>
          </p:cNvPr>
          <p:cNvSpPr>
            <a:spLocks xmlns:a="http://schemas.openxmlformats.org/drawingml/2006/main" noGrp="1"/>
          </p:cNvSpPr>
          <p:nvPr/>
        </p:nvSpPr>
        <p:spPr>
          <a:xfrm xmlns:a="http://schemas.openxmlformats.org/drawingml/2006/main">
            <a:off x="685800" y="2019300"/>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66B78"/>
                </a:solidFill>
                <a:latin typeface="Helvetica Neue"/>
                <a:ea typeface="Helvetica Neue"/>
                <a:cs typeface="Helvetica Neue"/>
              </a:defRPr>
            </a:pPr>
            <a:r>
              <a:rPr sz="2100" b="0">
                <a:solidFill>
                  <a:srgbClr val="566B78"/>
                </a:solidFill>
                <a:latin typeface="Helvetica Neue"/>
                <a:ea typeface="Helvetica Neue"/>
                <a:cs typeface="Helvetica Neue"/>
              </a:rPr>
              <a:t>Processus actifs</a:t>
            </a:r>
          </a:p>
        </p:txBody>
      </p:sp>
      <p:graphicFrame>
        <p:nvGraphicFramePr>
          <p:cNvPr id="14" name="Chart"/>
          <p:cNvGraphicFramePr/>
          <p:nvPr/>
        </p:nvGraphicFramePr>
        <p:xfrm>
          <a:off xmlns:a="http://schemas.openxmlformats.org/drawingml/2006/main" x="685800" y="2590800"/>
          <a:ext xmlns:a="http://schemas.openxmlformats.org/drawingml/2006/main" cx="5962650" cy="2971800"/>
        </p:xfrm>
        <a:graphic xmlns:a="http://schemas.openxmlformats.org/drawingml/2006/main">
          <a:graphicData uri="http://schemas.openxmlformats.org/drawingml/2006/chart">
            <c:chart xmlns:r="http://schemas.openxmlformats.org/officeDocument/2006/relationships" xmlns:c="http://schemas.openxmlformats.org/drawingml/2006/chart" r:id="R88e7bbd06b884f31"/>
          </a:graphicData>
        </a:graphic>
      </p:graphicFrame>
      <p:sp>
        <p:nvSpPr>
          <p:cNvPr id="6" name="text-5qu3nx-784-258">
            <a:extLst xmlns:a="http://schemas.openxmlformats.org/drawingml/2006/main">
              <a:ext uri="{FF2B5EF4-FFF2-40B4-BE49-F238E27FC236}">
                <a16:creationId xmlns:a16="http://schemas.microsoft.com/office/drawing/2014/main" id="{16E28C1C-F8CE-4AB5-B425-4104D5F065B7}"/>
              </a:ext>
            </a:extLst>
          </p:cNvPr>
          <p:cNvSpPr>
            <a:spLocks xmlns:a="http://schemas.openxmlformats.org/drawingml/2006/main" noGrp="1"/>
          </p:cNvSpPr>
          <p:nvPr/>
        </p:nvSpPr>
        <p:spPr>
          <a:xfrm xmlns:a="http://schemas.openxmlformats.org/drawingml/2006/main">
            <a:off x="7467600" y="2457450"/>
            <a:ext cx="4048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14798B"/>
                </a:solidFill>
                <a:latin typeface="Helvetica Neue"/>
                <a:ea typeface="Helvetica Neue"/>
                <a:cs typeface="Helvetica Neue"/>
              </a:defRPr>
            </a:pPr>
            <a:r>
              <a:rPr sz="3900" b="1">
                <a:solidFill>
                  <a:srgbClr val="14798B"/>
                </a:solidFill>
                <a:latin typeface="Helvetica Neue"/>
                <a:ea typeface="Helvetica Neue"/>
                <a:cs typeface="Helvetica Neue"/>
              </a:rPr>
              <a:t>PID 6064</a:t>
            </a:r>
          </a:p>
        </p:txBody>
      </p:sp>
      <p:sp>
        <p:nvSpPr>
          <p:cNvPr id="7" name="text-5qu3nx-784-365">
            <a:extLst xmlns:a="http://schemas.openxmlformats.org/drawingml/2006/main">
              <a:ext uri="{FF2B5EF4-FFF2-40B4-BE49-F238E27FC236}">
                <a16:creationId xmlns:a16="http://schemas.microsoft.com/office/drawing/2014/main" id="{E7DCCBDC-9194-4526-8028-72D7B30A83E1}"/>
              </a:ext>
            </a:extLst>
          </p:cNvPr>
          <p:cNvSpPr>
            <a:spLocks xmlns:a="http://schemas.openxmlformats.org/drawingml/2006/main" noGrp="1"/>
          </p:cNvSpPr>
          <p:nvPr/>
        </p:nvSpPr>
        <p:spPr>
          <a:xfrm xmlns:a="http://schemas.openxmlformats.org/drawingml/2006/main">
            <a:off x="7467600" y="3476625"/>
            <a:ext cx="40481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52B3B"/>
                </a:solidFill>
                <a:latin typeface="Helvetica Neue"/>
                <a:ea typeface="Helvetica Neue"/>
                <a:cs typeface="Helvetica Neue"/>
              </a:defRPr>
            </a:pPr>
            <a:r>
              <a:rPr sz="2175" b="0">
                <a:solidFill>
                  <a:srgbClr val="152B3B"/>
                </a:solidFill>
                <a:latin typeface="Helvetica Neue"/>
                <a:ea typeface="Helvetica Neue"/>
                <a:cs typeface="Helvetica Neue"/>
              </a:rPr>
              <a:t>Res.exe encore actif</a:t>
            </a:r>
          </a:p>
          <a:p xmlns:a="http://schemas.openxmlformats.org/drawingml/2006/main">
            <a:pPr>
              <a:defRPr sz="2175" b="0">
                <a:solidFill>
                  <a:srgbClr val="152B3B"/>
                </a:solidFill>
                <a:latin typeface="Helvetica Neue"/>
                <a:ea typeface="Helvetica Neue"/>
                <a:cs typeface="Helvetica Neue"/>
              </a:defRPr>
            </a:pPr>
            <a:r>
              <a:rPr sz="2175" b="0">
                <a:solidFill>
                  <a:srgbClr val="152B3B"/>
                </a:solidFill>
                <a:latin typeface="Helvetica Neue"/>
                <a:ea typeface="Helvetica Neue"/>
                <a:cs typeface="Helvetica Neue"/>
              </a:rPr>
              <a:t>Deux threads</a:t>
            </a:r>
          </a:p>
          <a:p xmlns:a="http://schemas.openxmlformats.org/drawingml/2006/main">
            <a:pPr>
              <a:defRPr sz="2175" b="0">
                <a:solidFill>
                  <a:srgbClr val="152B3B"/>
                </a:solidFill>
                <a:latin typeface="Helvetica Neue"/>
                <a:ea typeface="Helvetica Neue"/>
                <a:cs typeface="Helvetica Neue"/>
              </a:defRPr>
            </a:pPr>
            <a:r>
              <a:rPr sz="2175" b="0">
                <a:solidFill>
                  <a:srgbClr val="152B3B"/>
                </a:solidFill>
                <a:latin typeface="Helvetica Neue"/>
                <a:ea typeface="Helvetica Neue"/>
                <a:cs typeface="Helvetica Neue"/>
              </a:rPr>
              <a:t>Parent : PowerShell 5236</a:t>
            </a:r>
          </a:p>
        </p:txBody>
      </p:sp>
      <p:sp>
        <p:nvSpPr>
          <p:cNvPr id="8" name="text-5qu3nx-784-529">
            <a:extLst xmlns:a="http://schemas.openxmlformats.org/drawingml/2006/main">
              <a:ext uri="{FF2B5EF4-FFF2-40B4-BE49-F238E27FC236}">
                <a16:creationId xmlns:a16="http://schemas.microsoft.com/office/drawing/2014/main" id="{0F0E7341-97FD-4B73-A3E0-86A5D31B03DC}"/>
              </a:ext>
            </a:extLst>
          </p:cNvPr>
          <p:cNvSpPr>
            <a:spLocks xmlns:a="http://schemas.openxmlformats.org/drawingml/2006/main" noGrp="1"/>
          </p:cNvSpPr>
          <p:nvPr/>
        </p:nvSpPr>
        <p:spPr>
          <a:xfrm xmlns:a="http://schemas.openxmlformats.org/drawingml/2006/main">
            <a:off x="7467600" y="5038725"/>
            <a:ext cx="4048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66B78"/>
                </a:solidFill>
                <a:latin typeface="Helvetica Neue"/>
                <a:ea typeface="Helvetica Neue"/>
                <a:cs typeface="Helvetica Neue"/>
              </a:defRPr>
            </a:pPr>
            <a:r>
              <a:rPr sz="2025" b="0">
                <a:solidFill>
                  <a:srgbClr val="566B78"/>
                </a:solidFill>
                <a:latin typeface="Helvetica Neue"/>
                <a:ea typeface="Helvetica Neue"/>
                <a:cs typeface="Helvetica Neue"/>
              </a:rPr>
              <a:t>Env.exe absent des listes</a:t>
            </a:r>
          </a:p>
          <a:p xmlns:a="http://schemas.openxmlformats.org/drawingml/2006/main">
            <a:pPr>
              <a:defRPr sz="2025" b="0">
                <a:solidFill>
                  <a:srgbClr val="566B78"/>
                </a:solidFill>
                <a:latin typeface="Helvetica Neue"/>
                <a:ea typeface="Helvetica Neue"/>
                <a:cs typeface="Helvetica Neue"/>
              </a:defRPr>
            </a:pPr>
            <a:r>
              <a:rPr sz="2025" b="0">
                <a:solidFill>
                  <a:srgbClr val="566B78"/>
                </a:solidFill>
                <a:latin typeface="Helvetica Neue"/>
                <a:ea typeface="Helvetica Neue"/>
                <a:cs typeface="Helvetica Neue"/>
              </a:rPr>
              <a:t>et du scan examinés.</a:t>
            </a:r>
          </a:p>
        </p:txBody>
      </p:sp>
      <p:sp>
        <p:nvSpPr>
          <p:cNvPr id="9" name="text-5qu3nx-72-642">
            <a:extLst xmlns:a="http://schemas.openxmlformats.org/drawingml/2006/main">
              <a:ext uri="{FF2B5EF4-FFF2-40B4-BE49-F238E27FC236}">
                <a16:creationId xmlns:a16="http://schemas.microsoft.com/office/drawing/2014/main" id="{B94B3992-D4EA-4DF4-AE2B-A0864573494E}"/>
              </a:ext>
            </a:extLst>
          </p:cNvPr>
          <p:cNvSpPr>
            <a:spLocks xmlns:a="http://schemas.openxmlformats.org/drawingml/2006/main" noGrp="1"/>
          </p:cNvSpPr>
          <p:nvPr/>
        </p:nvSpPr>
        <p:spPr>
          <a:xfrm xmlns:a="http://schemas.openxmlformats.org/drawingml/2006/main">
            <a:off x="685800" y="6115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66B78"/>
                </a:solidFill>
                <a:latin typeface="Helvetica Neue"/>
                <a:ea typeface="Helvetica Neue"/>
                <a:cs typeface="Helvetica Neue"/>
              </a:defRPr>
            </a:pPr>
            <a:r>
              <a:rPr sz="1725" b="0">
                <a:solidFill>
                  <a:srgbClr val="566B78"/>
                </a:solidFill>
                <a:latin typeface="Helvetica Neue"/>
                <a:ea typeface="Helvetica Neue"/>
                <a:cs typeface="Helvetica Neue"/>
              </a:rPr>
              <a:t>Après : 102 entrées, dont une terminée. L’écart inclut Windows et les outils.</a:t>
            </a:r>
          </a:p>
        </p:txBody>
      </p:sp>
    </p:spTree>
    <p:extLst>
      <p:ext uri="{BB962C8B-B14F-4D97-AF65-F5344CB8AC3E}">
        <p14:creationId xmlns:p14="http://schemas.microsoft.com/office/powerpoint/2010/main" val="1346172072"/>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text-cav8vq-72-48">
            <a:extLst xmlns:a="http://schemas.openxmlformats.org/drawingml/2006/main">
              <a:ext uri="{FF2B5EF4-FFF2-40B4-BE49-F238E27FC236}">
                <a16:creationId xmlns:a16="http://schemas.microsoft.com/office/drawing/2014/main" id="{CD9BC4D9-E109-492F-A51A-D08DF2C4F77D}"/>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US7  ACQUISITION DU DISQUE</a:t>
            </a:r>
          </a:p>
        </p:txBody>
      </p:sp>
      <p:sp>
        <p:nvSpPr>
          <p:cNvPr id="2" name="text-cav8vq-72-103">
            <a:extLst xmlns:a="http://schemas.openxmlformats.org/drawingml/2006/main">
              <a:ext uri="{FF2B5EF4-FFF2-40B4-BE49-F238E27FC236}">
                <a16:creationId xmlns:a16="http://schemas.microsoft.com/office/drawing/2014/main" id="{571BA244-7238-4B09-9BA8-6B6B0E0B4A4F}"/>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Une copie vérifiée du premier essai</a:t>
            </a:r>
          </a:p>
        </p:txBody>
      </p:sp>
      <p:sp>
        <p:nvSpPr>
          <p:cNvPr id="3" name="text-cav8vq-1164-660">
            <a:extLst xmlns:a="http://schemas.openxmlformats.org/drawingml/2006/main">
              <a:ext uri="{FF2B5EF4-FFF2-40B4-BE49-F238E27FC236}">
                <a16:creationId xmlns:a16="http://schemas.microsoft.com/office/drawing/2014/main" id="{54E7B021-03C0-482D-A2E2-27A5852FC428}"/>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08</a:t>
            </a:r>
          </a:p>
        </p:txBody>
      </p:sp>
      <p:sp>
        <p:nvSpPr>
          <p:cNvPr id="4" name="text-cav8vq-72-228">
            <a:extLst xmlns:a="http://schemas.openxmlformats.org/drawingml/2006/main">
              <a:ext uri="{FF2B5EF4-FFF2-40B4-BE49-F238E27FC236}">
                <a16:creationId xmlns:a16="http://schemas.microsoft.com/office/drawing/2014/main" id="{9B6BE280-98AB-4DA2-AA90-994FBA3D0E68}"/>
              </a:ext>
            </a:extLst>
          </p:cNvPr>
          <p:cNvSpPr>
            <a:spLocks xmlns:a="http://schemas.openxmlformats.org/drawingml/2006/main" noGrp="1"/>
          </p:cNvSpPr>
          <p:nvPr/>
        </p:nvSpPr>
        <p:spPr>
          <a:xfrm xmlns:a="http://schemas.openxmlformats.org/drawingml/2006/main">
            <a:off x="685800" y="2171700"/>
            <a:ext cx="5810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350" b="1">
                <a:solidFill>
                  <a:srgbClr val="14798B"/>
                </a:solidFill>
                <a:latin typeface="Helvetica Neue"/>
                <a:ea typeface="Helvetica Neue"/>
                <a:cs typeface="Helvetica Neue"/>
              </a:defRPr>
            </a:pPr>
            <a:r>
              <a:rPr sz="7350" b="1">
                <a:solidFill>
                  <a:srgbClr val="14798B"/>
                </a:solidFill>
                <a:latin typeface="Helvetica Neue"/>
                <a:ea typeface="Helvetica Neue"/>
                <a:cs typeface="Helvetica Neue"/>
              </a:rPr>
              <a:t>64 Gio</a:t>
            </a:r>
          </a:p>
        </p:txBody>
      </p:sp>
      <p:sp>
        <p:nvSpPr>
          <p:cNvPr id="5" name="text-cav8vq-80-399">
            <a:extLst xmlns:a="http://schemas.openxmlformats.org/drawingml/2006/main">
              <a:ext uri="{FF2B5EF4-FFF2-40B4-BE49-F238E27FC236}">
                <a16:creationId xmlns:a16="http://schemas.microsoft.com/office/drawing/2014/main" id="{119EC912-F718-4446-99B5-7EC261C78E3B}"/>
              </a:ext>
            </a:extLst>
          </p:cNvPr>
          <p:cNvSpPr>
            <a:spLocks xmlns:a="http://schemas.openxmlformats.org/drawingml/2006/main" noGrp="1"/>
          </p:cNvSpPr>
          <p:nvPr/>
        </p:nvSpPr>
        <p:spPr>
          <a:xfrm xmlns:a="http://schemas.openxmlformats.org/drawingml/2006/main">
            <a:off x="762000" y="3800475"/>
            <a:ext cx="552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52B3B"/>
                </a:solidFill>
                <a:latin typeface="Helvetica Neue"/>
                <a:ea typeface="Helvetica Neue"/>
                <a:cs typeface="Helvetica Neue"/>
              </a:defRPr>
            </a:pPr>
            <a:r>
              <a:rPr sz="2550" b="0">
                <a:solidFill>
                  <a:srgbClr val="152B3B"/>
                </a:solidFill>
                <a:latin typeface="Helvetica Neue"/>
                <a:ea typeface="Helvetica Neue"/>
                <a:cs typeface="Helvetica Neue"/>
              </a:rPr>
              <a:t>Image RAW du snapshot</a:t>
            </a:r>
          </a:p>
          <a:p xmlns:a="http://schemas.openxmlformats.org/drawingml/2006/main">
            <a:pPr>
              <a:defRPr sz="2550" b="0">
                <a:solidFill>
                  <a:srgbClr val="152B3B"/>
                </a:solidFill>
                <a:latin typeface="Helvetica Neue"/>
                <a:ea typeface="Helvetica Neue"/>
                <a:cs typeface="Helvetica Neue"/>
              </a:defRPr>
            </a:pPr>
            <a:r>
              <a:rPr sz="2550" b="0">
                <a:solidFill>
                  <a:srgbClr val="152B3B"/>
                </a:solidFill>
                <a:latin typeface="Helvetica Neue"/>
                <a:ea typeface="Helvetica Neue"/>
                <a:cs typeface="Helvetica Neue"/>
              </a:rPr>
              <a:t>malware-first-run</a:t>
            </a:r>
          </a:p>
        </p:txBody>
      </p:sp>
      <p:sp>
        <p:nvSpPr>
          <p:cNvPr id="6" name="text-cav8vq-724-254">
            <a:extLst xmlns:a="http://schemas.openxmlformats.org/drawingml/2006/main">
              <a:ext uri="{FF2B5EF4-FFF2-40B4-BE49-F238E27FC236}">
                <a16:creationId xmlns:a16="http://schemas.microsoft.com/office/drawing/2014/main" id="{F2EA4005-B239-4877-9671-630319231A71}"/>
              </a:ext>
            </a:extLst>
          </p:cNvPr>
          <p:cNvSpPr>
            <a:spLocks xmlns:a="http://schemas.openxmlformats.org/drawingml/2006/main" noGrp="1"/>
          </p:cNvSpPr>
          <p:nvPr/>
        </p:nvSpPr>
        <p:spPr>
          <a:xfrm xmlns:a="http://schemas.openxmlformats.org/drawingml/2006/main">
            <a:off x="6896100" y="2419350"/>
            <a:ext cx="4648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52B3B"/>
                </a:solidFill>
                <a:latin typeface="Helvetica Neue"/>
                <a:ea typeface="Helvetica Neue"/>
                <a:cs typeface="Helvetica Neue"/>
              </a:defRPr>
            </a:pPr>
            <a:r>
              <a:rPr sz="3450" b="1">
                <a:solidFill>
                  <a:srgbClr val="152B3B"/>
                </a:solidFill>
                <a:latin typeface="Helvetica Neue"/>
                <a:ea typeface="Helvetica Neue"/>
                <a:cs typeface="Helvetica Neue"/>
              </a:rPr>
              <a:t>Aucune différence</a:t>
            </a:r>
          </a:p>
        </p:txBody>
      </p:sp>
      <p:sp>
        <p:nvSpPr>
          <p:cNvPr id="7" name="text-cav8vq-724-402">
            <a:extLst xmlns:a="http://schemas.openxmlformats.org/drawingml/2006/main">
              <a:ext uri="{FF2B5EF4-FFF2-40B4-BE49-F238E27FC236}">
                <a16:creationId xmlns:a16="http://schemas.microsoft.com/office/drawing/2014/main" id="{222AF3CC-B8AA-4ADF-A6FC-62C7AABC53AD}"/>
              </a:ext>
            </a:extLst>
          </p:cNvPr>
          <p:cNvSpPr>
            <a:spLocks xmlns:a="http://schemas.openxmlformats.org/drawingml/2006/main" noGrp="1"/>
          </p:cNvSpPr>
          <p:nvPr/>
        </p:nvSpPr>
        <p:spPr>
          <a:xfrm xmlns:a="http://schemas.openxmlformats.org/drawingml/2006/main">
            <a:off x="6896100" y="3829050"/>
            <a:ext cx="4648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Comparaison de tous les octets</a:t>
            </a:r>
          </a:p>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SHA-256 identiques</a:t>
            </a:r>
          </a:p>
        </p:txBody>
      </p:sp>
      <p:sp>
        <p:nvSpPr>
          <p:cNvPr id="8" name="text-cav8vq-72-565">
            <a:extLst xmlns:a="http://schemas.openxmlformats.org/drawingml/2006/main">
              <a:ext uri="{FF2B5EF4-FFF2-40B4-BE49-F238E27FC236}">
                <a16:creationId xmlns:a16="http://schemas.microsoft.com/office/drawing/2014/main" id="{5F31C4EF-BB61-4020-93C2-645791118CE7}"/>
              </a:ext>
            </a:extLst>
          </p:cNvPr>
          <p:cNvSpPr>
            <a:spLocks xmlns:a="http://schemas.openxmlformats.org/drawingml/2006/main" noGrp="1"/>
          </p:cNvSpPr>
          <p:nvPr/>
        </p:nvSpPr>
        <p:spPr>
          <a:xfrm xmlns:a="http://schemas.openxmlformats.org/drawingml/2006/main">
            <a:off x="685800" y="5381625"/>
            <a:ext cx="857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52B3B"/>
                </a:solidFill>
                <a:latin typeface="Helvetica Neue"/>
                <a:ea typeface="Helvetica Neue"/>
                <a:cs typeface="Helvetica Neue"/>
              </a:defRPr>
            </a:pPr>
            <a:r>
              <a:rPr sz="2775" b="1">
                <a:solidFill>
                  <a:srgbClr val="152B3B"/>
                </a:solidFill>
                <a:latin typeface="Helvetica Neue"/>
                <a:ea typeface="Helvetica Neue"/>
                <a:cs typeface="Helvetica Neue"/>
              </a:rPr>
              <a:t>21 fichiers inventoriés</a:t>
            </a:r>
          </a:p>
        </p:txBody>
      </p:sp>
      <p:sp>
        <p:nvSpPr>
          <p:cNvPr id="9" name="text-cav8vq-72-624">
            <a:extLst xmlns:a="http://schemas.openxmlformats.org/drawingml/2006/main">
              <a:ext uri="{FF2B5EF4-FFF2-40B4-BE49-F238E27FC236}">
                <a16:creationId xmlns:a16="http://schemas.microsoft.com/office/drawing/2014/main" id="{0D285E67-F291-4F84-9404-1B5412478975}"/>
              </a:ext>
            </a:extLst>
          </p:cNvPr>
          <p:cNvSpPr>
            <a:spLocks xmlns:a="http://schemas.openxmlformats.org/drawingml/2006/main" noGrp="1"/>
          </p:cNvSpPr>
          <p:nvPr/>
        </p:nvSpPr>
        <p:spPr>
          <a:xfrm xmlns:a="http://schemas.openxmlformats.org/drawingml/2006/main">
            <a:off x="685800" y="59436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66B78"/>
                </a:solidFill>
                <a:latin typeface="Helvetica Neue"/>
                <a:ea typeface="Helvetica Neue"/>
                <a:cs typeface="Helvetica Neue"/>
              </a:defRPr>
            </a:pPr>
            <a:r>
              <a:rPr sz="2100" b="0">
                <a:solidFill>
                  <a:srgbClr val="566B78"/>
                </a:solidFill>
                <a:latin typeface="Helvetica Neue"/>
                <a:ea typeface="Helvetica Neue"/>
                <a:cs typeface="Helvetica Neue"/>
              </a:rPr>
              <a:t>Res.exe, Env.exe, leurs copies, le journal et les traces.</a:t>
            </a:r>
          </a:p>
        </p:txBody>
      </p:sp>
    </p:spTree>
    <p:extLst>
      <p:ext uri="{BB962C8B-B14F-4D97-AF65-F5344CB8AC3E}">
        <p14:creationId xmlns:p14="http://schemas.microsoft.com/office/powerpoint/2010/main" val="1274625724"/>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text-gld2xn-72-48">
            <a:extLst xmlns:a="http://schemas.openxmlformats.org/drawingml/2006/main">
              <a:ext uri="{FF2B5EF4-FFF2-40B4-BE49-F238E27FC236}">
                <a16:creationId xmlns:a16="http://schemas.microsoft.com/office/drawing/2014/main" id="{0B8EF39A-4410-434F-B08A-51FDD5E67F6F}"/>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US8  CROISEMENT RAM / DISQUE</a:t>
            </a:r>
          </a:p>
        </p:txBody>
      </p:sp>
      <p:sp>
        <p:nvSpPr>
          <p:cNvPr id="2" name="text-gld2xn-72-103">
            <a:extLst xmlns:a="http://schemas.openxmlformats.org/drawingml/2006/main">
              <a:ext uri="{FF2B5EF4-FFF2-40B4-BE49-F238E27FC236}">
                <a16:creationId xmlns:a16="http://schemas.microsoft.com/office/drawing/2014/main" id="{12568703-6425-4D0D-93C9-629213B857B2}"/>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La persistance est configurée</a:t>
            </a:r>
          </a:p>
        </p:txBody>
      </p:sp>
      <p:sp>
        <p:nvSpPr>
          <p:cNvPr id="3" name="text-gld2xn-1164-660">
            <a:extLst xmlns:a="http://schemas.openxmlformats.org/drawingml/2006/main">
              <a:ext uri="{FF2B5EF4-FFF2-40B4-BE49-F238E27FC236}">
                <a16:creationId xmlns:a16="http://schemas.microsoft.com/office/drawing/2014/main" id="{BB1734C7-8DC0-4D6D-9BD5-DBF8B62D5ADD}"/>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09</a:t>
            </a:r>
          </a:p>
        </p:txBody>
      </p:sp>
      <p:graphicFrame>
        <p:nvGraphicFramePr>
          <p:cNvPr id="10" name=""/>
          <p:cNvGraphicFramePr/>
          <p:nvPr/>
        </p:nvGraphicFramePr>
        <p:xfrm>
          <a:off xmlns:a="http://schemas.openxmlformats.org/drawingml/2006/main" x="685800" y="2171700"/>
          <a:ext xmlns:a="http://schemas.openxmlformats.org/drawingml/2006/main" cx="10820400" cy="2305050"/>
        </p:xfrm>
        <a:graphic xmlns:a="http://schemas.openxmlformats.org/drawingml/2006/main">
          <a:graphicData uri="http://schemas.openxmlformats.org/drawingml/2006/table">
            <a:tbl>
              <a:tblPr firstRow="1" bandRow="0"/>
              <a:tblGrid>
                <a:gridCol w="2381250"/>
                <a:gridCol w="5619750"/>
                <a:gridCol w="2819400"/>
              </a:tblGrid>
              <a:tr h="768350">
                <a:tc>
                  <a:txBody>
                    <a:bodyPr lIns="171450" tIns="114300" rIns="171450" bIns="114300">
                      <a:noAutofit/>
                    </a:bodyPr>
                    <a:lstStyle/>
                    <a:p>
                      <a:r>
                        <a:rPr sz="1800" b="1">
                          <a:solidFill>
                            <a:srgbClr val="566B78"/>
                          </a:solidFill>
                          <a:latin typeface="Helvetica Neue"/>
                          <a:ea typeface="Helvetica Neue"/>
                          <a:cs typeface="Helvetica Neue"/>
                        </a:rPr>
                        <a:t>Valeur Run</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Cible sur disque</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État propre</a:t>
                      </a:r>
                    </a:p>
                  </a:txBody>
                  <a:tcPr marL="91440" marR="91440" marT="45720" marB="45720" anchor="ctr">
                    <a:solidFill>
                      <a:srgbClr val="E5F0F4"/>
                    </a:solidFill>
                  </a:tcPr>
                </a:tc>
              </a:tr>
              <a:tr h="768350">
                <a:tc>
                  <a:txBody>
                    <a:bodyPr lIns="171450" tIns="114300" rIns="171450" bIns="114300">
                      <a:noAutofit/>
                    </a:bodyPr>
                    <a:lstStyle/>
                    <a:p>
                      <a:r>
                        <a:rPr sz="2175" b="1">
                          <a:solidFill>
                            <a:srgbClr val="152B3B"/>
                          </a:solidFill>
                          <a:latin typeface="Helvetica Neue"/>
                          <a:ea typeface="Helvetica Neue"/>
                          <a:cs typeface="Helvetica Neue"/>
                        </a:rPr>
                        <a:t>Res</a:t>
                      </a:r>
                    </a:p>
                  </a:txBody>
                  <a:tcPr marL="91440" marR="91440" marT="45720" marB="45720" anchor="ctr">
                    <a:solidFill>
                      <a:srgbClr val="FFFFFF"/>
                    </a:solidFill>
                  </a:tcPr>
                </a:tc>
                <a:tc>
                  <a:txBody>
                    <a:bodyPr lIns="171450" tIns="114300" rIns="171450" bIns="114300">
                      <a:noAutofit/>
                    </a:bodyPr>
                    <a:lstStyle/>
                    <a:p>
                      <a:r>
                        <a:rPr sz="2175" b="0">
                          <a:solidFill>
                            <a:srgbClr val="152B3B"/>
                          </a:solidFill>
                          <a:latin typeface="Helvetica Neue"/>
                          <a:ea typeface="Helvetica Neue"/>
                          <a:cs typeface="Helvetica Neue"/>
                        </a:rPr>
                        <a:t>C:\WindSyst\Res.exe</a:t>
                      </a:r>
                    </a:p>
                  </a:txBody>
                  <a:tcPr marL="91440" marR="91440" marT="45720" marB="45720" anchor="ctr">
                    <a:solidFill>
                      <a:srgbClr val="FFFFFF"/>
                    </a:solidFill>
                  </a:tcPr>
                </a:tc>
                <a:tc>
                  <a:txBody>
                    <a:bodyPr lIns="171450" tIns="114300" rIns="171450" bIns="114300">
                      <a:noAutofit/>
                    </a:bodyPr>
                    <a:lstStyle/>
                    <a:p>
                      <a:r>
                        <a:rPr sz="2175" b="0">
                          <a:solidFill>
                            <a:srgbClr val="152B3B"/>
                          </a:solidFill>
                          <a:latin typeface="Helvetica Neue"/>
                          <a:ea typeface="Helvetica Neue"/>
                          <a:cs typeface="Helvetica Neue"/>
                        </a:rPr>
                        <a:t>Absente</a:t>
                      </a:r>
                    </a:p>
                  </a:txBody>
                  <a:tcPr marL="91440" marR="91440" marT="45720" marB="45720" anchor="ctr">
                    <a:solidFill>
                      <a:srgbClr val="FFFFFF"/>
                    </a:solidFill>
                  </a:tcPr>
                </a:tc>
              </a:tr>
              <a:tr h="768350">
                <a:tc>
                  <a:txBody>
                    <a:bodyPr lIns="171450" tIns="114300" rIns="171450" bIns="114300">
                      <a:noAutofit/>
                    </a:bodyPr>
                    <a:lstStyle/>
                    <a:p>
                      <a:r>
                        <a:rPr sz="2175" b="1">
                          <a:solidFill>
                            <a:srgbClr val="152B3B"/>
                          </a:solidFill>
                          <a:latin typeface="Helvetica Neue"/>
                          <a:ea typeface="Helvetica Neue"/>
                          <a:cs typeface="Helvetica Neue"/>
                        </a:rPr>
                        <a:t>Env</a:t>
                      </a:r>
                    </a:p>
                  </a:txBody>
                  <a:tcPr marL="91440" marR="91440" marT="45720" marB="45720" anchor="ctr">
                    <a:solidFill>
                      <a:srgbClr val="FFFFFF"/>
                    </a:solidFill>
                  </a:tcPr>
                </a:tc>
                <a:tc>
                  <a:txBody>
                    <a:bodyPr lIns="171450" tIns="114300" rIns="171450" bIns="114300">
                      <a:noAutofit/>
                    </a:bodyPr>
                    <a:lstStyle/>
                    <a:p>
                      <a:r>
                        <a:rPr sz="2175" b="0">
                          <a:solidFill>
                            <a:srgbClr val="152B3B"/>
                          </a:solidFill>
                          <a:latin typeface="Helvetica Neue"/>
                          <a:ea typeface="Helvetica Neue"/>
                          <a:cs typeface="Helvetica Neue"/>
                        </a:rPr>
                        <a:t>C:\WindSyst\Env.exe</a:t>
                      </a:r>
                    </a:p>
                  </a:txBody>
                  <a:tcPr marL="91440" marR="91440" marT="45720" marB="45720" anchor="ctr">
                    <a:solidFill>
                      <a:srgbClr val="FFFFFF"/>
                    </a:solidFill>
                  </a:tcPr>
                </a:tc>
                <a:tc>
                  <a:txBody>
                    <a:bodyPr lIns="171450" tIns="114300" rIns="171450" bIns="114300">
                      <a:noAutofit/>
                    </a:bodyPr>
                    <a:lstStyle/>
                    <a:p>
                      <a:r>
                        <a:rPr sz="2175" b="0">
                          <a:solidFill>
                            <a:srgbClr val="152B3B"/>
                          </a:solidFill>
                          <a:latin typeface="Helvetica Neue"/>
                          <a:ea typeface="Helvetica Neue"/>
                          <a:cs typeface="Helvetica Neue"/>
                        </a:rPr>
                        <a:t>Absente</a:t>
                      </a:r>
                    </a:p>
                  </a:txBody>
                  <a:tcPr marL="91440" marR="91440" marT="45720" marB="45720" anchor="ctr">
                    <a:solidFill>
                      <a:srgbClr val="FFFFFF"/>
                    </a:solidFill>
                  </a:tcPr>
                </a:tc>
              </a:tr>
            </a:tbl>
          </a:graphicData>
        </a:graphic>
      </p:graphicFrame>
      <p:sp>
        <p:nvSpPr>
          <p:cNvPr id="5" name="text-gld2xn-72-520">
            <a:extLst xmlns:a="http://schemas.openxmlformats.org/drawingml/2006/main">
              <a:ext uri="{FF2B5EF4-FFF2-40B4-BE49-F238E27FC236}">
                <a16:creationId xmlns:a16="http://schemas.microsoft.com/office/drawing/2014/main" id="{538F02C1-B4E7-4E9C-88C9-5854BF580CD4}"/>
              </a:ext>
            </a:extLst>
          </p:cNvPr>
          <p:cNvSpPr>
            <a:spLocks xmlns:a="http://schemas.openxmlformats.org/drawingml/2006/main" noGrp="1"/>
          </p:cNvSpPr>
          <p:nvPr/>
        </p:nvSpPr>
        <p:spPr>
          <a:xfrm xmlns:a="http://schemas.openxmlformats.org/drawingml/2006/main">
            <a:off x="685800" y="49530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52B3B"/>
                </a:solidFill>
                <a:latin typeface="Helvetica Neue"/>
                <a:ea typeface="Helvetica Neue"/>
                <a:cs typeface="Helvetica Neue"/>
              </a:defRPr>
            </a:pPr>
            <a:r>
              <a:rPr sz="2400" b="0">
                <a:solidFill>
                  <a:srgbClr val="152B3B"/>
                </a:solidFill>
                <a:latin typeface="Helvetica Neue"/>
                <a:ea typeface="Helvetica Neue"/>
                <a:cs typeface="Helvetica Neue"/>
              </a:rPr>
              <a:t>Process Monitor attribue les deux écritures à Res.exe.</a:t>
            </a:r>
          </a:p>
        </p:txBody>
      </p:sp>
      <p:sp>
        <p:nvSpPr>
          <p:cNvPr id="6" name="text-gld2xn-72-620">
            <a:extLst xmlns:a="http://schemas.openxmlformats.org/drawingml/2006/main">
              <a:ext uri="{FF2B5EF4-FFF2-40B4-BE49-F238E27FC236}">
                <a16:creationId xmlns:a16="http://schemas.microsoft.com/office/drawing/2014/main" id="{788F2D8C-E51A-4402-9BA7-9B15F3A039E8}"/>
              </a:ext>
            </a:extLst>
          </p:cNvPr>
          <p:cNvSpPr>
            <a:spLocks xmlns:a="http://schemas.openxmlformats.org/drawingml/2006/main" noGrp="1"/>
          </p:cNvSpPr>
          <p:nvPr/>
        </p:nvSpPr>
        <p:spPr>
          <a:xfrm xmlns:a="http://schemas.openxmlformats.org/drawingml/2006/main">
            <a:off x="685800" y="5905500"/>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AD641A"/>
                </a:solidFill>
                <a:latin typeface="Helvetica Neue"/>
                <a:ea typeface="Helvetica Neue"/>
                <a:cs typeface="Helvetica Neue"/>
              </a:defRPr>
            </a:pPr>
            <a:r>
              <a:rPr sz="2025" b="1">
                <a:solidFill>
                  <a:srgbClr val="AD641A"/>
                </a:solidFill>
                <a:latin typeface="Helvetica Neue"/>
                <a:ea typeface="Helvetica Neue"/>
                <a:cs typeface="Helvetica Neue"/>
              </a:rPr>
              <a:t>Le déclenchement à la prochaine ouverture de session reste non testé.</a:t>
            </a:r>
          </a:p>
        </p:txBody>
      </p:sp>
    </p:spTree>
    <p:extLst>
      <p:ext uri="{BB962C8B-B14F-4D97-AF65-F5344CB8AC3E}">
        <p14:creationId xmlns:p14="http://schemas.microsoft.com/office/powerpoint/2010/main" val="1924774610"/>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text-ehfo70-72-48">
            <a:extLst xmlns:a="http://schemas.openxmlformats.org/drawingml/2006/main">
              <a:ext uri="{FF2B5EF4-FFF2-40B4-BE49-F238E27FC236}">
                <a16:creationId xmlns:a16="http://schemas.microsoft.com/office/drawing/2014/main" id="{D7B6067D-CB27-4545-AF3E-612F767CC2D3}"/>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PREMIER ESSAI  CHRONOLOGIE</a:t>
            </a:r>
          </a:p>
        </p:txBody>
      </p:sp>
      <p:sp>
        <p:nvSpPr>
          <p:cNvPr id="2" name="text-ehfo70-72-103">
            <a:extLst xmlns:a="http://schemas.openxmlformats.org/drawingml/2006/main">
              <a:ext uri="{FF2B5EF4-FFF2-40B4-BE49-F238E27FC236}">
                <a16:creationId xmlns:a16="http://schemas.microsoft.com/office/drawing/2014/main" id="{1F88A214-CDF2-499A-9BDD-80499DE4C2DA}"/>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Le scénario reconstitué</a:t>
            </a:r>
          </a:p>
        </p:txBody>
      </p:sp>
      <p:sp>
        <p:nvSpPr>
          <p:cNvPr id="3" name="text-ehfo70-1164-660">
            <a:extLst xmlns:a="http://schemas.openxmlformats.org/drawingml/2006/main">
              <a:ext uri="{FF2B5EF4-FFF2-40B4-BE49-F238E27FC236}">
                <a16:creationId xmlns:a16="http://schemas.microsoft.com/office/drawing/2014/main" id="{153D3A70-2244-4CB3-BBB9-4714237A8F43}"/>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10</a:t>
            </a:r>
          </a:p>
        </p:txBody>
      </p:sp>
      <p:graphicFrame>
        <p:nvGraphicFramePr>
          <p:cNvPr id="9" name=""/>
          <p:cNvGraphicFramePr/>
          <p:nvPr/>
        </p:nvGraphicFramePr>
        <p:xfrm>
          <a:off xmlns:a="http://schemas.openxmlformats.org/drawingml/2006/main" x="685800" y="2009775"/>
          <a:ext xmlns:a="http://schemas.openxmlformats.org/drawingml/2006/main" cx="10820400" cy="3629025"/>
        </p:xfrm>
        <a:graphic xmlns:a="http://schemas.openxmlformats.org/drawingml/2006/main">
          <a:graphicData uri="http://schemas.openxmlformats.org/drawingml/2006/table">
            <a:tbl>
              <a:tblPr firstRow="1" bandRow="0"/>
              <a:tblGrid>
                <a:gridCol w="2762250"/>
                <a:gridCol w="8058150"/>
              </a:tblGrid>
              <a:tr h="604838">
                <a:tc>
                  <a:txBody>
                    <a:bodyPr lIns="171450" tIns="114300" rIns="171450" bIns="114300">
                      <a:noAutofit/>
                    </a:bodyPr>
                    <a:lstStyle/>
                    <a:p>
                      <a:r>
                        <a:rPr sz="1800" b="1">
                          <a:solidFill>
                            <a:srgbClr val="566B78"/>
                          </a:solidFill>
                          <a:latin typeface="Helvetica Neue"/>
                          <a:ea typeface="Helvetica Neue"/>
                          <a:cs typeface="Helvetica Neue"/>
                        </a:rPr>
                        <a:t>Heure Windows</a:t>
                      </a:r>
                    </a:p>
                  </a:txBody>
                  <a:tcPr marL="91440" marR="91440" marT="45720" marB="45720" anchor="ctr">
                    <a:solidFill>
                      <a:srgbClr val="E5F0F4"/>
                    </a:solidFill>
                  </a:tcPr>
                </a:tc>
                <a:tc>
                  <a:txBody>
                    <a:bodyPr lIns="171450" tIns="114300" rIns="171450" bIns="114300">
                      <a:noAutofit/>
                    </a:bodyPr>
                    <a:lstStyle/>
                    <a:p>
                      <a:r>
                        <a:rPr sz="1800" b="1">
                          <a:solidFill>
                            <a:srgbClr val="566B78"/>
                          </a:solidFill>
                          <a:latin typeface="Helvetica Neue"/>
                          <a:ea typeface="Helvetica Neue"/>
                          <a:cs typeface="Helvetica Neue"/>
                        </a:rPr>
                        <a:t>Observation</a:t>
                      </a:r>
                    </a:p>
                  </a:txBody>
                  <a:tcPr marL="91440" marR="91440" marT="45720" marB="45720" anchor="ctr">
                    <a:solidFill>
                      <a:srgbClr val="E5F0F4"/>
                    </a:solidFill>
                  </a:tcPr>
                </a:tc>
              </a:tr>
              <a:tr h="604838">
                <a:tc>
                  <a:txBody>
                    <a:bodyPr lIns="171450" tIns="114300" rIns="171450" bIns="114300">
                      <a:noAutofit/>
                    </a:bodyPr>
                    <a:lstStyle/>
                    <a:p>
                      <a:r>
                        <a:rPr sz="2025" b="1">
                          <a:solidFill>
                            <a:srgbClr val="152B3B"/>
                          </a:solidFill>
                          <a:latin typeface="Helvetica Neue"/>
                          <a:ea typeface="Helvetica Neue"/>
                          <a:cs typeface="Helvetica Neue"/>
                        </a:rPr>
                        <a:t>10:33:34</a:t>
                      </a:r>
                    </a:p>
                  </a:txBody>
                  <a:tcPr marL="91440" marR="91440" marT="45720" marB="45720" anchor="ctr">
                    <a:solidFill>
                      <a:srgbClr val="FFFFFF"/>
                    </a:solidFill>
                  </a:tcPr>
                </a:tc>
                <a:tc>
                  <a:txBody>
                    <a:bodyPr lIns="171450" tIns="114300" rIns="171450" bIns="114300">
                      <a:noAutofit/>
                    </a:bodyPr>
                    <a:lstStyle/>
                    <a:p>
                      <a:r>
                        <a:rPr sz="2025" b="0">
                          <a:solidFill>
                            <a:srgbClr val="152B3B"/>
                          </a:solidFill>
                          <a:latin typeface="Helvetica Neue"/>
                          <a:ea typeface="Helvetica Neue"/>
                          <a:cs typeface="Helvetica Neue"/>
                        </a:rPr>
                        <a:t>Lancement de Res.exe depuis PowerShell</a:t>
                      </a:r>
                    </a:p>
                  </a:txBody>
                  <a:tcPr marL="91440" marR="91440" marT="45720" marB="45720" anchor="ctr">
                    <a:solidFill>
                      <a:srgbClr val="FFFFFF"/>
                    </a:solidFill>
                  </a:tcPr>
                </a:tc>
              </a:tr>
              <a:tr h="604838">
                <a:tc>
                  <a:txBody>
                    <a:bodyPr lIns="171450" tIns="114300" rIns="171450" bIns="114300">
                      <a:noAutofit/>
                    </a:bodyPr>
                    <a:lstStyle/>
                    <a:p>
                      <a:r>
                        <a:rPr sz="2025" b="1">
                          <a:solidFill>
                            <a:srgbClr val="152B3B"/>
                          </a:solidFill>
                          <a:latin typeface="Helvetica Neue"/>
                          <a:ea typeface="Helvetica Neue"/>
                          <a:cs typeface="Helvetica Neue"/>
                        </a:rPr>
                        <a:t>10:33:40</a:t>
                      </a:r>
                    </a:p>
                  </a:txBody>
                  <a:tcPr marL="91440" marR="91440" marT="45720" marB="45720" anchor="ctr">
                    <a:solidFill>
                      <a:srgbClr val="FFFFFF"/>
                    </a:solidFill>
                  </a:tcPr>
                </a:tc>
                <a:tc>
                  <a:txBody>
                    <a:bodyPr lIns="171450" tIns="114300" rIns="171450" bIns="114300">
                      <a:noAutofit/>
                    </a:bodyPr>
                    <a:lstStyle/>
                    <a:p>
                      <a:r>
                        <a:rPr sz="2025" b="0">
                          <a:solidFill>
                            <a:srgbClr val="152B3B"/>
                          </a:solidFill>
                          <a:latin typeface="Helvetica Neue"/>
                          <a:ea typeface="Helvetica Neue"/>
                          <a:cs typeface="Helvetica Neue"/>
                        </a:rPr>
                        <a:t>Copies de Res.exe et Env.exe dans WindSyst</a:t>
                      </a:r>
                    </a:p>
                  </a:txBody>
                  <a:tcPr marL="91440" marR="91440" marT="45720" marB="45720" anchor="ctr">
                    <a:solidFill>
                      <a:srgbClr val="FFFFFF"/>
                    </a:solidFill>
                  </a:tcPr>
                </a:tc>
              </a:tr>
              <a:tr h="604838">
                <a:tc>
                  <a:txBody>
                    <a:bodyPr lIns="171450" tIns="114300" rIns="171450" bIns="114300">
                      <a:noAutofit/>
                    </a:bodyPr>
                    <a:lstStyle/>
                    <a:p>
                      <a:r>
                        <a:rPr sz="2025" b="1">
                          <a:solidFill>
                            <a:srgbClr val="152B3B"/>
                          </a:solidFill>
                          <a:latin typeface="Helvetica Neue"/>
                          <a:ea typeface="Helvetica Neue"/>
                          <a:cs typeface="Helvetica Neue"/>
                        </a:rPr>
                        <a:t>10:33:45</a:t>
                      </a:r>
                    </a:p>
                  </a:txBody>
                  <a:tcPr marL="91440" marR="91440" marT="45720" marB="45720" anchor="ctr">
                    <a:solidFill>
                      <a:srgbClr val="FFFFFF"/>
                    </a:solidFill>
                  </a:tcPr>
                </a:tc>
                <a:tc>
                  <a:txBody>
                    <a:bodyPr lIns="171450" tIns="114300" rIns="171450" bIns="114300">
                      <a:noAutofit/>
                    </a:bodyPr>
                    <a:lstStyle/>
                    <a:p>
                      <a:r>
                        <a:rPr sz="2025" b="0">
                          <a:solidFill>
                            <a:srgbClr val="152B3B"/>
                          </a:solidFill>
                          <a:latin typeface="Helvetica Neue"/>
                          <a:ea typeface="Helvetica Neue"/>
                          <a:cs typeface="Helvetica Neue"/>
                        </a:rPr>
                        <a:t>Écriture des valeurs Run\Res et Run\Env</a:t>
                      </a:r>
                    </a:p>
                  </a:txBody>
                  <a:tcPr marL="91440" marR="91440" marT="45720" marB="45720" anchor="ctr">
                    <a:solidFill>
                      <a:srgbClr val="FFFFFF"/>
                    </a:solidFill>
                  </a:tcPr>
                </a:tc>
              </a:tr>
              <a:tr h="604838">
                <a:tc>
                  <a:txBody>
                    <a:bodyPr lIns="171450" tIns="114300" rIns="171450" bIns="114300">
                      <a:noAutofit/>
                    </a:bodyPr>
                    <a:lstStyle/>
                    <a:p>
                      <a:r>
                        <a:rPr sz="2025" b="1">
                          <a:solidFill>
                            <a:srgbClr val="152B3B"/>
                          </a:solidFill>
                          <a:latin typeface="Helvetica Neue"/>
                          <a:ea typeface="Helvetica Neue"/>
                          <a:cs typeface="Helvetica Neue"/>
                        </a:rPr>
                        <a:t>10:34 à 10:35</a:t>
                      </a:r>
                    </a:p>
                  </a:txBody>
                  <a:tcPr marL="91440" marR="91440" marT="45720" marB="45720" anchor="ctr">
                    <a:solidFill>
                      <a:srgbClr val="FFFFFF"/>
                    </a:solidFill>
                  </a:tcPr>
                </a:tc>
                <a:tc>
                  <a:txBody>
                    <a:bodyPr lIns="171450" tIns="114300" rIns="171450" bIns="114300">
                      <a:noAutofit/>
                    </a:bodyPr>
                    <a:lstStyle/>
                    <a:p>
                      <a:r>
                        <a:rPr sz="2025" b="0">
                          <a:solidFill>
                            <a:srgbClr val="152B3B"/>
                          </a:solidFill>
                          <a:latin typeface="Helvetica Neue"/>
                          <a:ea typeface="Helvetica Neue"/>
                          <a:cs typeface="Helvetica Neue"/>
                        </a:rPr>
                        <a:t>Neuf écritures dans le journal</a:t>
                      </a:r>
                    </a:p>
                  </a:txBody>
                  <a:tcPr marL="91440" marR="91440" marT="45720" marB="45720" anchor="ctr">
                    <a:solidFill>
                      <a:srgbClr val="FFFFFF"/>
                    </a:solidFill>
                  </a:tcPr>
                </a:tc>
              </a:tr>
              <a:tr h="604838">
                <a:tc>
                  <a:txBody>
                    <a:bodyPr lIns="171450" tIns="114300" rIns="171450" bIns="114300">
                      <a:noAutofit/>
                    </a:bodyPr>
                    <a:lstStyle/>
                    <a:p>
                      <a:r>
                        <a:rPr sz="2025" b="1">
                          <a:solidFill>
                            <a:srgbClr val="152B3B"/>
                          </a:solidFill>
                          <a:latin typeface="Helvetica Neue"/>
                          <a:ea typeface="Helvetica Neue"/>
                          <a:cs typeface="Helvetica Neue"/>
                        </a:rPr>
                        <a:t>10:36:59</a:t>
                      </a:r>
                    </a:p>
                  </a:txBody>
                  <a:tcPr marL="91440" marR="91440" marT="45720" marB="45720" anchor="ctr">
                    <a:solidFill>
                      <a:srgbClr val="FFFFFF"/>
                    </a:solidFill>
                  </a:tcPr>
                </a:tc>
                <a:tc>
                  <a:txBody>
                    <a:bodyPr lIns="171450" tIns="114300" rIns="171450" bIns="114300">
                      <a:noAutofit/>
                    </a:bodyPr>
                    <a:lstStyle/>
                    <a:p>
                      <a:r>
                        <a:rPr sz="2025" b="0">
                          <a:solidFill>
                            <a:srgbClr val="152B3B"/>
                          </a:solidFill>
                          <a:latin typeface="Helvetica Neue"/>
                          <a:ea typeface="Helvetica Neue"/>
                          <a:cs typeface="Helvetica Neue"/>
                        </a:rPr>
                        <a:t>Res.exe toujours actif dans la capture RAM</a:t>
                      </a:r>
                    </a:p>
                  </a:txBody>
                  <a:tcPr marL="91440" marR="91440" marT="45720" marB="45720" anchor="ctr">
                    <a:solidFill>
                      <a:srgbClr val="FFFFFF"/>
                    </a:solidFill>
                  </a:tcPr>
                </a:tc>
              </a:tr>
            </a:tbl>
          </a:graphicData>
        </a:graphic>
      </p:graphicFrame>
      <p:sp>
        <p:nvSpPr>
          <p:cNvPr id="5" name="text-ehfo70-72-630">
            <a:extLst xmlns:a="http://schemas.openxmlformats.org/drawingml/2006/main">
              <a:ext uri="{FF2B5EF4-FFF2-40B4-BE49-F238E27FC236}">
                <a16:creationId xmlns:a16="http://schemas.microsoft.com/office/drawing/2014/main" id="{5A8F00CC-53D2-42D5-8EA7-741965E7461E}"/>
              </a:ext>
            </a:extLst>
          </p:cNvPr>
          <p:cNvSpPr>
            <a:spLocks xmlns:a="http://schemas.openxmlformats.org/drawingml/2006/main" noGrp="1"/>
          </p:cNvSpPr>
          <p:nvPr/>
        </p:nvSpPr>
        <p:spPr>
          <a:xfrm xmlns:a="http://schemas.openxmlformats.org/drawingml/2006/main">
            <a:off x="685800" y="6000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66B78"/>
                </a:solidFill>
                <a:latin typeface="Helvetica Neue"/>
                <a:ea typeface="Helvetica Neue"/>
                <a:cs typeface="Helvetica Neue"/>
              </a:defRPr>
            </a:pPr>
            <a:r>
              <a:rPr sz="1950" b="0">
                <a:solidFill>
                  <a:srgbClr val="566B78"/>
                </a:solidFill>
                <a:latin typeface="Helvetica Neue"/>
                <a:ea typeface="Helvetica Neue"/>
                <a:cs typeface="Helvetica Neue"/>
              </a:rPr>
              <a:t>14 événements sélectionnés. La capture disque intervient plus tard.</a:t>
            </a:r>
          </a:p>
        </p:txBody>
      </p:sp>
    </p:spTree>
    <p:extLst>
      <p:ext uri="{BB962C8B-B14F-4D97-AF65-F5344CB8AC3E}">
        <p14:creationId xmlns:p14="http://schemas.microsoft.com/office/powerpoint/2010/main" val="44172919"/>
      </p:ext>
    </p:extLst>
  </p:cSld>
</p:sld>
</file>

<file path=ppt/slides/slide11.xml><?xml version="1.0" encoding="utf-8"?>
<p:sld xmlns:p="http://schemas.openxmlformats.org/presentationml/2006/main">
  <p:cSld>
    <p:bg>
      <p:bgPr>
        <a:solidFill xmlns:a="http://schemas.openxmlformats.org/drawingml/2006/main">
          <a:srgbClr val="0B1420"/>
        </a:solidFill>
      </p:bgPr>
    </p:bg>
    <p:spTree>
      <p:nvGrpSpPr>
        <p:cNvPr id="1" name=""/>
        <p:cNvGrpSpPr/>
        <p:nvPr/>
      </p:nvGrpSpPr>
      <p:grpSpPr>
        <a:xfrm xmlns:a="http://schemas.openxmlformats.org/drawingml/2006/main"/>
      </p:grpSpPr>
      <p:sp>
        <p:nvSpPr>
          <p:cNvPr id="13" name="text-1rai33-72-48">
            <a:extLst xmlns:a="http://schemas.openxmlformats.org/drawingml/2006/main">
              <a:ext uri="{FF2B5EF4-FFF2-40B4-BE49-F238E27FC236}">
                <a16:creationId xmlns:a16="http://schemas.microsoft.com/office/drawing/2014/main" id="{1637B34B-5887-4AAB-90F3-A7AFFE5021BE}"/>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8DDBE7"/>
                </a:solidFill>
                <a:latin typeface="Helvetica Neue"/>
                <a:ea typeface="Helvetica Neue"/>
                <a:cs typeface="Helvetica Neue"/>
              </a:defRPr>
            </a:pPr>
            <a:r>
              <a:rPr sz="1800" b="1">
                <a:solidFill>
                  <a:srgbClr val="8DDBE7"/>
                </a:solidFill>
                <a:latin typeface="Helvetica Neue"/>
                <a:ea typeface="Helvetica Neue"/>
                <a:cs typeface="Helvetica Neue"/>
              </a:rPr>
              <a:t>ORGANISATION DU PROJET</a:t>
            </a:r>
          </a:p>
        </p:txBody>
      </p:sp>
      <p:sp>
        <p:nvSpPr>
          <p:cNvPr id="2" name="text-1rai33-72-103">
            <a:extLst xmlns:a="http://schemas.openxmlformats.org/drawingml/2006/main">
              <a:ext uri="{FF2B5EF4-FFF2-40B4-BE49-F238E27FC236}">
                <a16:creationId xmlns:a16="http://schemas.microsoft.com/office/drawing/2014/main" id="{64B39477-4AD7-4B4A-9C19-CEAED85C125C}"/>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Une commande par étape</a:t>
            </a:r>
          </a:p>
        </p:txBody>
      </p:sp>
      <p:sp>
        <p:nvSpPr>
          <p:cNvPr id="3" name="text-1rai33-1164-660">
            <a:extLst xmlns:a="http://schemas.openxmlformats.org/drawingml/2006/main">
              <a:ext uri="{FF2B5EF4-FFF2-40B4-BE49-F238E27FC236}">
                <a16:creationId xmlns:a16="http://schemas.microsoft.com/office/drawing/2014/main" id="{BA6887A2-B2FA-4E4D-939F-811C06FDC83E}"/>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8DDBE7"/>
                </a:solidFill>
                <a:latin typeface="Helvetica Neue"/>
                <a:ea typeface="Helvetica Neue"/>
                <a:cs typeface="Helvetica Neue"/>
              </a:defRPr>
            </a:pPr>
            <a:r>
              <a:rPr sz="1500" b="0">
                <a:solidFill>
                  <a:srgbClr val="8DDBE7"/>
                </a:solidFill>
                <a:latin typeface="Helvetica Neue"/>
                <a:ea typeface="Helvetica Neue"/>
                <a:cs typeface="Helvetica Neue"/>
              </a:rPr>
              <a:t>11</a:t>
            </a:r>
          </a:p>
        </p:txBody>
      </p:sp>
      <p:sp>
        <p:nvSpPr>
          <p:cNvPr id="4" name="text-1rai33-72-244">
            <a:extLst xmlns:a="http://schemas.openxmlformats.org/drawingml/2006/main">
              <a:ext uri="{FF2B5EF4-FFF2-40B4-BE49-F238E27FC236}">
                <a16:creationId xmlns:a16="http://schemas.microsoft.com/office/drawing/2014/main" id="{2469EA06-DE00-4E45-9FBA-CEEFC6C8B2C2}"/>
              </a:ext>
            </a:extLst>
          </p:cNvPr>
          <p:cNvSpPr>
            <a:spLocks xmlns:a="http://schemas.openxmlformats.org/drawingml/2006/main" noGrp="1"/>
          </p:cNvSpPr>
          <p:nvPr/>
        </p:nvSpPr>
        <p:spPr>
          <a:xfrm xmlns:a="http://schemas.openxmlformats.org/drawingml/2006/main">
            <a:off x="685800" y="2324100"/>
            <a:ext cx="5667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8DDBE7"/>
                </a:solidFill>
                <a:latin typeface="Helvetica Neue"/>
                <a:ea typeface="Helvetica Neue"/>
                <a:cs typeface="Helvetica Neue"/>
              </a:defRPr>
            </a:pPr>
            <a:r>
              <a:rPr sz="2325" b="1">
                <a:solidFill>
                  <a:srgbClr val="8DDBE7"/>
                </a:solidFill>
                <a:latin typeface="Helvetica Neue"/>
                <a:ea typeface="Helvetica Neue"/>
                <a:cs typeface="Helvetica Neue"/>
              </a:rPr>
              <a:t>bash us4/analyse.sh</a:t>
            </a:r>
          </a:p>
        </p:txBody>
      </p:sp>
      <p:sp>
        <p:nvSpPr>
          <p:cNvPr id="5" name="text-1rai33-736-244">
            <a:extLst xmlns:a="http://schemas.openxmlformats.org/drawingml/2006/main">
              <a:ext uri="{FF2B5EF4-FFF2-40B4-BE49-F238E27FC236}">
                <a16:creationId xmlns:a16="http://schemas.microsoft.com/office/drawing/2014/main" id="{EBF345AD-9148-46BF-91E4-34C31D46F91F}"/>
              </a:ext>
            </a:extLst>
          </p:cNvPr>
          <p:cNvSpPr>
            <a:spLocks xmlns:a="http://schemas.openxmlformats.org/drawingml/2006/main" noGrp="1"/>
          </p:cNvSpPr>
          <p:nvPr/>
        </p:nvSpPr>
        <p:spPr>
          <a:xfrm xmlns:a="http://schemas.openxmlformats.org/drawingml/2006/main">
            <a:off x="7010400" y="2324100"/>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Relire les traces</a:t>
            </a:r>
          </a:p>
        </p:txBody>
      </p:sp>
      <p:sp>
        <p:nvSpPr>
          <p:cNvPr id="6" name="text-1rai33-72-326">
            <a:extLst xmlns:a="http://schemas.openxmlformats.org/drawingml/2006/main">
              <a:ext uri="{FF2B5EF4-FFF2-40B4-BE49-F238E27FC236}">
                <a16:creationId xmlns:a16="http://schemas.microsoft.com/office/drawing/2014/main" id="{FDDDEE74-2F66-4BD7-AA00-72585DC2E4BB}"/>
              </a:ext>
            </a:extLst>
          </p:cNvPr>
          <p:cNvSpPr>
            <a:spLocks xmlns:a="http://schemas.openxmlformats.org/drawingml/2006/main" noGrp="1"/>
          </p:cNvSpPr>
          <p:nvPr/>
        </p:nvSpPr>
        <p:spPr>
          <a:xfrm xmlns:a="http://schemas.openxmlformats.org/drawingml/2006/main">
            <a:off x="685800" y="3105150"/>
            <a:ext cx="5667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8DDBE7"/>
                </a:solidFill>
                <a:latin typeface="Helvetica Neue"/>
                <a:ea typeface="Helvetica Neue"/>
                <a:cs typeface="Helvetica Neue"/>
              </a:defRPr>
            </a:pPr>
            <a:r>
              <a:rPr sz="2325" b="1">
                <a:solidFill>
                  <a:srgbClr val="8DDBE7"/>
                </a:solidFill>
                <a:latin typeface="Helvetica Neue"/>
                <a:ea typeface="Helvetica Neue"/>
                <a:cs typeface="Helvetica Neue"/>
              </a:rPr>
              <a:t>bash us6/analyse.sh</a:t>
            </a:r>
          </a:p>
        </p:txBody>
      </p:sp>
      <p:sp>
        <p:nvSpPr>
          <p:cNvPr id="7" name="text-1rai33-736-326">
            <a:extLst xmlns:a="http://schemas.openxmlformats.org/drawingml/2006/main">
              <a:ext uri="{FF2B5EF4-FFF2-40B4-BE49-F238E27FC236}">
                <a16:creationId xmlns:a16="http://schemas.microsoft.com/office/drawing/2014/main" id="{91573B72-CFCA-47F5-BEE7-1928039DCD9D}"/>
              </a:ext>
            </a:extLst>
          </p:cNvPr>
          <p:cNvSpPr>
            <a:spLocks xmlns:a="http://schemas.openxmlformats.org/drawingml/2006/main" noGrp="1"/>
          </p:cNvSpPr>
          <p:nvPr/>
        </p:nvSpPr>
        <p:spPr>
          <a:xfrm xmlns:a="http://schemas.openxmlformats.org/drawingml/2006/main">
            <a:off x="7010400" y="3105150"/>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Analyser la mémoire</a:t>
            </a:r>
          </a:p>
        </p:txBody>
      </p:sp>
      <p:sp>
        <p:nvSpPr>
          <p:cNvPr id="8" name="text-1rai33-72-408">
            <a:extLst xmlns:a="http://schemas.openxmlformats.org/drawingml/2006/main">
              <a:ext uri="{FF2B5EF4-FFF2-40B4-BE49-F238E27FC236}">
                <a16:creationId xmlns:a16="http://schemas.microsoft.com/office/drawing/2014/main" id="{130C6022-C19B-4FC2-B037-A0CCD64750D9}"/>
              </a:ext>
            </a:extLst>
          </p:cNvPr>
          <p:cNvSpPr>
            <a:spLocks xmlns:a="http://schemas.openxmlformats.org/drawingml/2006/main" noGrp="1"/>
          </p:cNvSpPr>
          <p:nvPr/>
        </p:nvSpPr>
        <p:spPr>
          <a:xfrm xmlns:a="http://schemas.openxmlformats.org/drawingml/2006/main">
            <a:off x="685800" y="3886200"/>
            <a:ext cx="5667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8DDBE7"/>
                </a:solidFill>
                <a:latin typeface="Helvetica Neue"/>
                <a:ea typeface="Helvetica Neue"/>
                <a:cs typeface="Helvetica Neue"/>
              </a:defRPr>
            </a:pPr>
            <a:r>
              <a:rPr sz="2325" b="1">
                <a:solidFill>
                  <a:srgbClr val="8DDBE7"/>
                </a:solidFill>
                <a:latin typeface="Helvetica Neue"/>
                <a:ea typeface="Helvetica Neue"/>
                <a:cs typeface="Helvetica Neue"/>
              </a:rPr>
              <a:t>bash us7/analyse.sh</a:t>
            </a:r>
          </a:p>
        </p:txBody>
      </p:sp>
      <p:sp>
        <p:nvSpPr>
          <p:cNvPr id="9" name="text-1rai33-736-408">
            <a:extLst xmlns:a="http://schemas.openxmlformats.org/drawingml/2006/main">
              <a:ext uri="{FF2B5EF4-FFF2-40B4-BE49-F238E27FC236}">
                <a16:creationId xmlns:a16="http://schemas.microsoft.com/office/drawing/2014/main" id="{C988DF48-B296-48DE-AE3F-73DBFBACBCF6}"/>
              </a:ext>
            </a:extLst>
          </p:cNvPr>
          <p:cNvSpPr>
            <a:spLocks xmlns:a="http://schemas.openxmlformats.org/drawingml/2006/main" noGrp="1"/>
          </p:cNvSpPr>
          <p:nvPr/>
        </p:nvSpPr>
        <p:spPr>
          <a:xfrm xmlns:a="http://schemas.openxmlformats.org/drawingml/2006/main">
            <a:off x="7010400" y="3886200"/>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Inventorier le disque</a:t>
            </a:r>
          </a:p>
        </p:txBody>
      </p:sp>
      <p:sp>
        <p:nvSpPr>
          <p:cNvPr id="10" name="text-1rai33-72-490">
            <a:extLst xmlns:a="http://schemas.openxmlformats.org/drawingml/2006/main">
              <a:ext uri="{FF2B5EF4-FFF2-40B4-BE49-F238E27FC236}">
                <a16:creationId xmlns:a16="http://schemas.microsoft.com/office/drawing/2014/main" id="{E1CB6FA6-4E70-46E0-9388-6650B5ED4197}"/>
              </a:ext>
            </a:extLst>
          </p:cNvPr>
          <p:cNvSpPr>
            <a:spLocks xmlns:a="http://schemas.openxmlformats.org/drawingml/2006/main" noGrp="1"/>
          </p:cNvSpPr>
          <p:nvPr/>
        </p:nvSpPr>
        <p:spPr>
          <a:xfrm xmlns:a="http://schemas.openxmlformats.org/drawingml/2006/main">
            <a:off x="685800" y="4667250"/>
            <a:ext cx="5667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8DDBE7"/>
                </a:solidFill>
                <a:latin typeface="Helvetica Neue"/>
                <a:ea typeface="Helvetica Neue"/>
                <a:cs typeface="Helvetica Neue"/>
              </a:defRPr>
            </a:pPr>
            <a:r>
              <a:rPr sz="2325" b="1">
                <a:solidFill>
                  <a:srgbClr val="8DDBE7"/>
                </a:solidFill>
                <a:latin typeface="Helvetica Neue"/>
                <a:ea typeface="Helvetica Neue"/>
                <a:cs typeface="Helvetica Neue"/>
              </a:rPr>
              <a:t>bash us8/analyse.sh</a:t>
            </a:r>
          </a:p>
        </p:txBody>
      </p:sp>
      <p:sp>
        <p:nvSpPr>
          <p:cNvPr id="11" name="text-1rai33-736-490">
            <a:extLst xmlns:a="http://schemas.openxmlformats.org/drawingml/2006/main">
              <a:ext uri="{FF2B5EF4-FFF2-40B4-BE49-F238E27FC236}">
                <a16:creationId xmlns:a16="http://schemas.microsoft.com/office/drawing/2014/main" id="{AF43F869-EEA2-4799-9E26-0EAE4BC0E9AA}"/>
              </a:ext>
            </a:extLst>
          </p:cNvPr>
          <p:cNvSpPr>
            <a:spLocks xmlns:a="http://schemas.openxmlformats.org/drawingml/2006/main" noGrp="1"/>
          </p:cNvSpPr>
          <p:nvPr/>
        </p:nvSpPr>
        <p:spPr>
          <a:xfrm xmlns:a="http://schemas.openxmlformats.org/drawingml/2006/main">
            <a:off x="7010400" y="4667250"/>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Croiser les preuves</a:t>
            </a:r>
          </a:p>
        </p:txBody>
      </p:sp>
      <p:sp>
        <p:nvSpPr>
          <p:cNvPr id="12" name="text-1rai33-72-621">
            <a:extLst xmlns:a="http://schemas.openxmlformats.org/drawingml/2006/main">
              <a:ext uri="{FF2B5EF4-FFF2-40B4-BE49-F238E27FC236}">
                <a16:creationId xmlns:a16="http://schemas.microsoft.com/office/drawing/2014/main" id="{6D8415A7-4773-4805-9AFA-74C10D945AA6}"/>
              </a:ext>
            </a:extLst>
          </p:cNvPr>
          <p:cNvSpPr>
            <a:spLocks xmlns:a="http://schemas.openxmlformats.org/drawingml/2006/main" noGrp="1"/>
          </p:cNvSpPr>
          <p:nvPr/>
        </p:nvSpPr>
        <p:spPr>
          <a:xfrm xmlns:a="http://schemas.openxmlformats.org/drawingml/2006/main">
            <a:off x="685800" y="5915025"/>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B9D0DB"/>
                </a:solidFill>
                <a:latin typeface="Helvetica Neue"/>
                <a:ea typeface="Helvetica Neue"/>
                <a:cs typeface="Helvetica Neue"/>
              </a:defRPr>
            </a:pPr>
            <a:r>
              <a:rPr sz="1800" b="0">
                <a:solidFill>
                  <a:srgbClr val="B9D0DB"/>
                </a:solidFill>
                <a:latin typeface="Helvetica Neue"/>
                <a:ea typeface="Helvetica Neue"/>
                <a:cs typeface="Helvetica Neue"/>
              </a:rPr>
              <a:t>Docker lancé, VM arrêtée et preuves disponibles. Les commandes remplacent les relevés.</a:t>
            </a:r>
          </a:p>
        </p:txBody>
      </p:sp>
    </p:spTree>
    <p:extLst>
      <p:ext uri="{BB962C8B-B14F-4D97-AF65-F5344CB8AC3E}">
        <p14:creationId xmlns:p14="http://schemas.microsoft.com/office/powerpoint/2010/main" val="9948641"/>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text-qgv5gn-72-48">
            <a:extLst xmlns:a="http://schemas.openxmlformats.org/drawingml/2006/main">
              <a:ext uri="{FF2B5EF4-FFF2-40B4-BE49-F238E27FC236}">
                <a16:creationId xmlns:a16="http://schemas.microsoft.com/office/drawing/2014/main" id="{3B904C32-80C9-4995-8E17-72CCF035F962}"/>
              </a:ext>
            </a:extLst>
          </p:cNvPr>
          <p:cNvSpPr>
            <a:spLocks xmlns:a="http://schemas.openxmlformats.org/drawingml/2006/main" noGrp="1"/>
          </p:cNvSpPr>
          <p:nvPr/>
        </p:nvSpPr>
        <p:spPr>
          <a:xfrm xmlns:a="http://schemas.openxmlformats.org/drawingml/2006/main">
            <a:off x="685800" y="4572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4798B"/>
                </a:solidFill>
                <a:latin typeface="Helvetica Neue"/>
                <a:ea typeface="Helvetica Neue"/>
                <a:cs typeface="Helvetica Neue"/>
              </a:defRPr>
            </a:pPr>
            <a:r>
              <a:rPr sz="1800" b="1">
                <a:solidFill>
                  <a:srgbClr val="14798B"/>
                </a:solidFill>
                <a:latin typeface="Helvetica Neue"/>
                <a:ea typeface="Helvetica Neue"/>
                <a:cs typeface="Helvetica Neue"/>
              </a:rPr>
              <a:t>BILAN</a:t>
            </a:r>
          </a:p>
        </p:txBody>
      </p:sp>
      <p:sp>
        <p:nvSpPr>
          <p:cNvPr id="2" name="text-qgv5gn-72-103">
            <a:extLst xmlns:a="http://schemas.openxmlformats.org/drawingml/2006/main">
              <a:ext uri="{FF2B5EF4-FFF2-40B4-BE49-F238E27FC236}">
                <a16:creationId xmlns:a16="http://schemas.microsoft.com/office/drawing/2014/main" id="{70F8687B-04B7-49EF-91AA-238C64BD39ED}"/>
              </a:ext>
            </a:extLst>
          </p:cNvPr>
          <p:cNvSpPr>
            <a:spLocks xmlns:a="http://schemas.openxmlformats.org/drawingml/2006/main" noGrp="1"/>
          </p:cNvSpPr>
          <p:nvPr/>
        </p:nvSpPr>
        <p:spPr>
          <a:xfrm xmlns:a="http://schemas.openxmlformats.org/drawingml/2006/main">
            <a:off x="685800" y="9810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52B3B"/>
                </a:solidFill>
                <a:latin typeface="Helvetica Neue"/>
                <a:ea typeface="Helvetica Neue"/>
                <a:cs typeface="Helvetica Neue"/>
              </a:defRPr>
            </a:pPr>
            <a:r>
              <a:rPr sz="3600" b="1">
                <a:solidFill>
                  <a:srgbClr val="152B3B"/>
                </a:solidFill>
                <a:latin typeface="Helvetica Neue"/>
                <a:ea typeface="Helvetica Neue"/>
                <a:cs typeface="Helvetica Neue"/>
              </a:rPr>
              <a:t>Ce que j’ai pu démontrer</a:t>
            </a:r>
          </a:p>
        </p:txBody>
      </p:sp>
      <p:sp>
        <p:nvSpPr>
          <p:cNvPr id="3" name="text-qgv5gn-1164-660">
            <a:extLst xmlns:a="http://schemas.openxmlformats.org/drawingml/2006/main">
              <a:ext uri="{FF2B5EF4-FFF2-40B4-BE49-F238E27FC236}">
                <a16:creationId xmlns:a16="http://schemas.microsoft.com/office/drawing/2014/main" id="{1B885801-418C-4662-A476-4D7A517EEE2D}"/>
              </a:ext>
            </a:extLst>
          </p:cNvPr>
          <p:cNvSpPr>
            <a:spLocks xmlns:a="http://schemas.openxmlformats.org/drawingml/2006/main" noGrp="1"/>
          </p:cNvSpPr>
          <p:nvPr/>
        </p:nvSpPr>
        <p:spPr>
          <a:xfrm xmlns:a="http://schemas.openxmlformats.org/drawingml/2006/main">
            <a:off x="110871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66B78"/>
                </a:solidFill>
                <a:latin typeface="Helvetica Neue"/>
                <a:ea typeface="Helvetica Neue"/>
                <a:cs typeface="Helvetica Neue"/>
              </a:defRPr>
            </a:pPr>
            <a:r>
              <a:rPr sz="1500" b="0">
                <a:solidFill>
                  <a:srgbClr val="566B78"/>
                </a:solidFill>
                <a:latin typeface="Helvetica Neue"/>
                <a:ea typeface="Helvetica Neue"/>
                <a:cs typeface="Helvetica Neue"/>
              </a:rPr>
              <a:t>12</a:t>
            </a:r>
          </a:p>
        </p:txBody>
      </p:sp>
      <p:sp>
        <p:nvSpPr>
          <p:cNvPr id="4" name="text-qgv5gn-72-230">
            <a:extLst xmlns:a="http://schemas.openxmlformats.org/drawingml/2006/main">
              <a:ext uri="{FF2B5EF4-FFF2-40B4-BE49-F238E27FC236}">
                <a16:creationId xmlns:a16="http://schemas.microsoft.com/office/drawing/2014/main" id="{F5B8861D-A84B-4E68-B632-598A780BA41B}"/>
              </a:ext>
            </a:extLst>
          </p:cNvPr>
          <p:cNvSpPr>
            <a:spLocks xmlns:a="http://schemas.openxmlformats.org/drawingml/2006/main" noGrp="1"/>
          </p:cNvSpPr>
          <p:nvPr/>
        </p:nvSpPr>
        <p:spPr>
          <a:xfrm xmlns:a="http://schemas.openxmlformats.org/drawingml/2006/main">
            <a:off x="685800" y="2190750"/>
            <a:ext cx="528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4798B"/>
                </a:solidFill>
                <a:latin typeface="Helvetica Neue"/>
                <a:ea typeface="Helvetica Neue"/>
                <a:cs typeface="Helvetica Neue"/>
              </a:defRPr>
            </a:pPr>
            <a:r>
              <a:rPr sz="2700" b="1">
                <a:solidFill>
                  <a:srgbClr val="14798B"/>
                </a:solidFill>
                <a:latin typeface="Helvetica Neue"/>
                <a:ea typeface="Helvetica Neue"/>
                <a:cs typeface="Helvetica Neue"/>
              </a:rPr>
              <a:t>Constats établis</a:t>
            </a:r>
          </a:p>
        </p:txBody>
      </p:sp>
      <p:sp>
        <p:nvSpPr>
          <p:cNvPr id="5" name="text-qgv5gn-72-320">
            <a:extLst xmlns:a="http://schemas.openxmlformats.org/drawingml/2006/main">
              <a:ext uri="{FF2B5EF4-FFF2-40B4-BE49-F238E27FC236}">
                <a16:creationId xmlns:a16="http://schemas.microsoft.com/office/drawing/2014/main" id="{C44E786A-8696-4D96-BCF4-CF528C5DC7F7}"/>
              </a:ext>
            </a:extLst>
          </p:cNvPr>
          <p:cNvSpPr>
            <a:spLocks xmlns:a="http://schemas.openxmlformats.org/drawingml/2006/main" noGrp="1"/>
          </p:cNvSpPr>
          <p:nvPr/>
        </p:nvSpPr>
        <p:spPr>
          <a:xfrm xmlns:a="http://schemas.openxmlformats.org/drawingml/2006/main">
            <a:off x="685800" y="304800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Installation locale</a:t>
            </a:r>
          </a:p>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Écritures dans un journal</a:t>
            </a:r>
          </a:p>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Valeurs Run configurées</a:t>
            </a:r>
          </a:p>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Scénario cohérent entre les preuves</a:t>
            </a:r>
          </a:p>
        </p:txBody>
      </p:sp>
      <p:sp>
        <p:nvSpPr>
          <p:cNvPr id="6" name="text-qgv5gn-724-230">
            <a:extLst xmlns:a="http://schemas.openxmlformats.org/drawingml/2006/main">
              <a:ext uri="{FF2B5EF4-FFF2-40B4-BE49-F238E27FC236}">
                <a16:creationId xmlns:a16="http://schemas.microsoft.com/office/drawing/2014/main" id="{2FFFB150-4509-4512-8298-8A18A4135B16}"/>
              </a:ext>
            </a:extLst>
          </p:cNvPr>
          <p:cNvSpPr>
            <a:spLocks xmlns:a="http://schemas.openxmlformats.org/drawingml/2006/main" noGrp="1"/>
          </p:cNvSpPr>
          <p:nvPr/>
        </p:nvSpPr>
        <p:spPr>
          <a:xfrm xmlns:a="http://schemas.openxmlformats.org/drawingml/2006/main">
            <a:off x="6896100" y="21907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AD641A"/>
                </a:solidFill>
                <a:latin typeface="Helvetica Neue"/>
                <a:ea typeface="Helvetica Neue"/>
                <a:cs typeface="Helvetica Neue"/>
              </a:defRPr>
            </a:pPr>
            <a:r>
              <a:rPr sz="2700" b="1">
                <a:solidFill>
                  <a:srgbClr val="AD641A"/>
                </a:solidFill>
                <a:latin typeface="Helvetica Neue"/>
                <a:ea typeface="Helvetica Neue"/>
                <a:cs typeface="Helvetica Neue"/>
              </a:rPr>
              <a:t>Points à confirmer</a:t>
            </a:r>
          </a:p>
        </p:txBody>
      </p:sp>
      <p:sp>
        <p:nvSpPr>
          <p:cNvPr id="7" name="text-qgv5gn-724-320">
            <a:extLst xmlns:a="http://schemas.openxmlformats.org/drawingml/2006/main">
              <a:ext uri="{FF2B5EF4-FFF2-40B4-BE49-F238E27FC236}">
                <a16:creationId xmlns:a16="http://schemas.microsoft.com/office/drawing/2014/main" id="{35236A65-1CA3-4DB4-B1FD-D162C8A6DDF4}"/>
              </a:ext>
            </a:extLst>
          </p:cNvPr>
          <p:cNvSpPr>
            <a:spLocks xmlns:a="http://schemas.openxmlformats.org/drawingml/2006/main" noGrp="1"/>
          </p:cNvSpPr>
          <p:nvPr/>
        </p:nvSpPr>
        <p:spPr>
          <a:xfrm xmlns:a="http://schemas.openxmlformats.org/drawingml/2006/main">
            <a:off x="6896100" y="3048000"/>
            <a:ext cx="46482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Collecte complète des frappes</a:t>
            </a:r>
          </a:p>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Lancement automatique</a:t>
            </a:r>
          </a:p>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Envoi du journal</a:t>
            </a:r>
          </a:p>
          <a:p xmlns:a="http://schemas.openxmlformats.org/drawingml/2006/main">
            <a:pPr>
              <a:defRPr sz="2250" b="0">
                <a:solidFill>
                  <a:srgbClr val="152B3B"/>
                </a:solidFill>
                <a:latin typeface="Helvetica Neue"/>
                <a:ea typeface="Helvetica Neue"/>
                <a:cs typeface="Helvetica Neue"/>
              </a:defRPr>
            </a:pPr>
            <a:r>
              <a:rPr sz="2250" b="0">
                <a:solidFill>
                  <a:srgbClr val="152B3B"/>
                </a:solidFill>
                <a:latin typeface="Helvetica Neue"/>
                <a:ea typeface="Helvetica Neue"/>
                <a:cs typeface="Helvetica Neue"/>
              </a:rPr>
              <a:t>Identité du code RAM / disque</a:t>
            </a:r>
          </a:p>
        </p:txBody>
      </p:sp>
      <p:sp>
        <p:nvSpPr>
          <p:cNvPr id="8" name="text-qgv5gn-72-624">
            <a:extLst xmlns:a="http://schemas.openxmlformats.org/drawingml/2006/main">
              <a:ext uri="{FF2B5EF4-FFF2-40B4-BE49-F238E27FC236}">
                <a16:creationId xmlns:a16="http://schemas.microsoft.com/office/drawing/2014/main" id="{90D11CB6-FD0D-4BFB-8055-50670198B4EA}"/>
              </a:ext>
            </a:extLst>
          </p:cNvPr>
          <p:cNvSpPr>
            <a:spLocks xmlns:a="http://schemas.openxmlformats.org/drawingml/2006/main" noGrp="1"/>
          </p:cNvSpPr>
          <p:nvPr/>
        </p:nvSpPr>
        <p:spPr>
          <a:xfrm xmlns:a="http://schemas.openxmlformats.org/drawingml/2006/main">
            <a:off x="685800" y="5943600"/>
            <a:ext cx="1028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52B3B"/>
                </a:solidFill>
                <a:latin typeface="Helvetica Neue"/>
                <a:ea typeface="Helvetica Neue"/>
                <a:cs typeface="Helvetica Neue"/>
              </a:defRPr>
            </a:pPr>
            <a:r>
              <a:rPr sz="2325" b="1">
                <a:solidFill>
                  <a:srgbClr val="152B3B"/>
                </a:solidFill>
                <a:latin typeface="Helvetica Neue"/>
                <a:ea typeface="Helvetica Neue"/>
                <a:cs typeface="Helvetica Neue"/>
              </a:rPr>
              <a:t>L’analyse décrit les faits observés dans le laboratoire.</a:t>
            </a:r>
          </a:p>
        </p:txBody>
      </p:sp>
    </p:spTree>
    <p:extLst>
      <p:ext uri="{BB962C8B-B14F-4D97-AF65-F5344CB8AC3E}">
        <p14:creationId xmlns:p14="http://schemas.microsoft.com/office/powerpoint/2010/main" val="18693017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2026-09-11T10:45:35.8210000Z</dcterms:created>
  <dcterms:modified xsi:type="dcterms:W3CDTF">2026-09-11T10:45:35.8210000Z</dcterms:modified>
</coreProperties>
</file>